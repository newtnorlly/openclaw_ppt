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88952" cy="6263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37160"/>
            <a:ext cx="12188952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400" b="1">
                <a:solidFill>
                  <a:srgbClr val="C00000"/>
                </a:solidFill>
              </a:defRPr>
            </a:pPr>
            <a:r>
              <a:t>群体决策案例分析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11274552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200" b="0">
                <a:solidFill>
                  <a:srgbClr val="1F3764"/>
                </a:solidFill>
              </a:defRPr>
            </a:pPr>
            <a:r>
              <a:t>—— 以三峡工程为例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40480"/>
            <a:ext cx="11274552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0">
                <a:solidFill>
                  <a:srgbClr val="333333"/>
                </a:solidFill>
              </a:defRPr>
            </a:pPr>
            <a:r>
              <a:t>基于四个权威来源综合分析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4572000"/>
            <a:ext cx="3959352" cy="3657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4846320"/>
            <a:ext cx="1127455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0">
                <a:solidFill>
                  <a:srgbClr val="333333"/>
                </a:solidFill>
              </a:defRPr>
            </a:pPr>
            <a:r>
              <a:t>2026年4月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88952" cy="6720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37160"/>
            <a:ext cx="3200400" cy="62636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2286000"/>
            <a:ext cx="27432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目 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457200"/>
            <a:ext cx="6400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400" b="1">
                <a:solidFill>
                  <a:srgbClr val="C00000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530352"/>
            <a:ext cx="7315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0">
                <a:solidFill>
                  <a:srgbClr val="333333"/>
                </a:solidFill>
              </a:defRPr>
            </a:pPr>
            <a:r>
              <a:t>案例背景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051560"/>
            <a:ext cx="731520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207007"/>
            <a:ext cx="6400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400" b="1">
                <a:solidFill>
                  <a:srgbClr val="C00000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1280160"/>
            <a:ext cx="7315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0">
                <a:solidFill>
                  <a:srgbClr val="333333"/>
                </a:solidFill>
              </a:defRPr>
            </a:pPr>
            <a:r>
              <a:t>决策过程：从设想到立项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801367"/>
            <a:ext cx="731520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1956815"/>
            <a:ext cx="6400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400" b="1">
                <a:solidFill>
                  <a:srgbClr val="C00000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029967"/>
            <a:ext cx="7315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0">
                <a:solidFill>
                  <a:srgbClr val="333333"/>
                </a:solidFill>
              </a:defRPr>
            </a:pPr>
            <a:r>
              <a:t>群体决策核心特征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2551175"/>
            <a:ext cx="731520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2706624"/>
            <a:ext cx="6400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400" b="1">
                <a:solidFill>
                  <a:srgbClr val="C00000"/>
                </a:solidFill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779776"/>
            <a:ext cx="7315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0">
                <a:solidFill>
                  <a:srgbClr val="333333"/>
                </a:solidFill>
              </a:defRPr>
            </a:pPr>
            <a:r>
              <a:t>实地调研与民意采集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3300984"/>
            <a:ext cx="731520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0" y="3456432"/>
            <a:ext cx="6400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400" b="1">
                <a:solidFill>
                  <a:srgbClr val="C00000"/>
                </a:solidFill>
              </a:defRPr>
            </a:pPr>
            <a: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3529584"/>
            <a:ext cx="7315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0">
                <a:solidFill>
                  <a:srgbClr val="333333"/>
                </a:solidFill>
              </a:defRPr>
            </a:pPr>
            <a:r>
              <a:t>复杂利益格局协调机制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4050791"/>
            <a:ext cx="731520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4206240"/>
            <a:ext cx="6400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400" b="1">
                <a:solidFill>
                  <a:srgbClr val="C00000"/>
                </a:solidFill>
              </a:defRPr>
            </a:pPr>
            <a: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4279392"/>
            <a:ext cx="7315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0">
                <a:solidFill>
                  <a:srgbClr val="333333"/>
                </a:solidFill>
              </a:defRPr>
            </a:pPr>
            <a:r>
              <a:t>决策成效与历史验证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240" y="4800600"/>
            <a:ext cx="731520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0" y="4956048"/>
            <a:ext cx="6400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400" b="1">
                <a:solidFill>
                  <a:srgbClr val="C00000"/>
                </a:solidFill>
              </a:defRPr>
            </a:pPr>
            <a: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5029200"/>
            <a:ext cx="7315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0">
                <a:solidFill>
                  <a:srgbClr val="333333"/>
                </a:solidFill>
              </a:defRPr>
            </a:pPr>
            <a:r>
              <a:t>群体决策的启示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40" y="5550408"/>
            <a:ext cx="731520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88952" cy="6720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37160"/>
            <a:ext cx="12188952" cy="1005840"/>
          </a:xfrm>
          <a:prstGeom prst="rect">
            <a:avLst/>
          </a:prstGeom>
          <a:solidFill>
            <a:srgbClr val="C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320040"/>
            <a:ext cx="7315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800" b="1">
                <a:solidFill>
                  <a:srgbClr val="D4AF37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004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案例背景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11457432" cy="4846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54480"/>
            <a:ext cx="10725912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0">
                <a:solidFill>
                  <a:srgbClr val="333333"/>
                </a:solidFill>
              </a:defRPr>
            </a:pPr>
            <a:r>
              <a:t>三峡工程（Three Gorges Project）是世界上规模最大的水利枢纽工程，也是新中国成立以来建设周期最长、参与范围最广、技术难度最高的超级工程。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10725912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0">
                <a:solidFill>
                  <a:srgbClr val="333333"/>
                </a:solidFill>
              </a:defRPr>
            </a:pPr>
            <a:r>
              <a:t>从1918年孙中山先生首次提出设想，到1992年全国人大通过决议，再到2006年主体工程竣工，前后历时近百年。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97680"/>
            <a:ext cx="10725912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0">
                <a:solidFill>
                  <a:srgbClr val="333333"/>
                </a:solidFill>
              </a:defRPr>
            </a:pPr>
            <a:r>
              <a:t>三峡工程涉及面广、技术复杂、投资巨大、影响深远，其决策过程被认为是中国"科学决策、民主决策"的典范之作，也是研究群体决策机制的经典案例。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029200"/>
            <a:ext cx="2560320" cy="10058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074920"/>
            <a:ext cx="25603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近百年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532120"/>
            <a:ext cx="2560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决策历程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20439" y="5029200"/>
            <a:ext cx="2560320" cy="10058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39" y="5074920"/>
            <a:ext cx="25603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400+亿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39" y="5532120"/>
            <a:ext cx="2560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投资总额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5029200"/>
            <a:ext cx="2560320" cy="10058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5074920"/>
            <a:ext cx="25603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129万+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532120"/>
            <a:ext cx="2560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移民安置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81159" y="5029200"/>
            <a:ext cx="2560320" cy="10058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59" y="5074920"/>
            <a:ext cx="25603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185米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59" y="5532120"/>
            <a:ext cx="2560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大坝高度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88952" cy="6720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37160"/>
            <a:ext cx="12188952" cy="1005840"/>
          </a:xfrm>
          <a:prstGeom prst="rect">
            <a:avLst/>
          </a:prstGeom>
          <a:solidFill>
            <a:srgbClr val="C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320040"/>
            <a:ext cx="7315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800" b="1">
                <a:solidFill>
                  <a:srgbClr val="D4AF37"/>
                </a:solidFill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004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决策过程：从设想到立项</a:t>
            </a:r>
          </a:p>
        </p:txBody>
      </p:sp>
      <p:sp>
        <p:nvSpPr>
          <p:cNvPr id="8" name="Oval 7"/>
          <p:cNvSpPr/>
          <p:nvPr/>
        </p:nvSpPr>
        <p:spPr>
          <a:xfrm>
            <a:off x="1188720" y="1645920"/>
            <a:ext cx="914400" cy="9144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783080"/>
            <a:ext cx="914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743200"/>
            <a:ext cx="2560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C00000"/>
                </a:solidFill>
              </a:defRPr>
            </a:pPr>
            <a:r>
              <a:t>1918-1950s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154680"/>
            <a:ext cx="25603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1F3764"/>
                </a:solidFill>
              </a:defRPr>
            </a:pPr>
            <a:r>
              <a:t>设想萌芽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886200"/>
            <a:ext cx="256032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333333"/>
                </a:solidFill>
              </a:defRPr>
            </a:pPr>
            <a:r>
              <a:t>孙中山《建国方略》</a:t>
            </a:r>
            <a:br/>
            <a:r>
              <a:t>毛泽东"高峡出平湖"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697479" y="1920240"/>
            <a:ext cx="640080" cy="365760"/>
          </a:xfrm>
          <a:prstGeom prst="rightArrow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14800" y="1645920"/>
            <a:ext cx="914400" cy="9144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0" y="1783080"/>
            <a:ext cx="914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743200"/>
            <a:ext cx="2560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C00000"/>
                </a:solidFill>
              </a:defRPr>
            </a:pPr>
            <a:r>
              <a:t>1983-1986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3154680"/>
            <a:ext cx="25603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1F3764"/>
                </a:solidFill>
              </a:defRPr>
            </a:pPr>
            <a:r>
              <a:t>初步论证</a:t>
            </a:r>
            <a:br/>
            <a:r>
              <a:t>与争议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3886200"/>
            <a:ext cx="256032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333333"/>
                </a:solidFill>
              </a:defRPr>
            </a:pPr>
            <a:r>
              <a:t>坝高150米低坝方案</a:t>
            </a:r>
            <a:br/>
            <a:r>
              <a:t>孙越崎率众反对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623560" y="1920240"/>
            <a:ext cx="640080" cy="365760"/>
          </a:xfrm>
          <a:prstGeom prst="rightArrow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40880" y="1645920"/>
            <a:ext cx="914400" cy="9144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0" y="1783080"/>
            <a:ext cx="914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743200"/>
            <a:ext cx="2560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C00000"/>
                </a:solidFill>
              </a:defRPr>
            </a:pPr>
            <a:r>
              <a:t>1986-1989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154680"/>
            <a:ext cx="25603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1F3764"/>
                </a:solidFill>
              </a:defRPr>
            </a:pPr>
            <a:r>
              <a:t>重新论证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886200"/>
            <a:ext cx="256032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333333"/>
                </a:solidFill>
              </a:defRPr>
            </a:pPr>
            <a:r>
              <a:t>412名专家参与</a:t>
            </a:r>
            <a:br/>
            <a:r>
              <a:t>14个专题论证报告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549640" y="1920240"/>
            <a:ext cx="640080" cy="365760"/>
          </a:xfrm>
          <a:prstGeom prst="rightArrow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966960" y="1645920"/>
            <a:ext cx="914400" cy="9144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66960" y="1783080"/>
            <a:ext cx="914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2743200"/>
            <a:ext cx="2560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C00000"/>
                </a:solidFill>
              </a:defRPr>
            </a:pPr>
            <a:r>
              <a:t>1990-1992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154680"/>
            <a:ext cx="25603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1F3764"/>
                </a:solidFill>
              </a:defRPr>
            </a:pPr>
            <a:r>
              <a:t>全国人大</a:t>
            </a:r>
            <a:br/>
            <a:r>
              <a:t>审议立项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3886200"/>
            <a:ext cx="256032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333333"/>
                </a:solidFill>
              </a:defRPr>
            </a:pPr>
            <a:r>
              <a:t>1767票赞成</a:t>
            </a:r>
            <a:br/>
            <a:r>
              <a:t>通过兴建决议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88952" cy="6720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37160"/>
            <a:ext cx="12188952" cy="1005840"/>
          </a:xfrm>
          <a:prstGeom prst="rect">
            <a:avLst/>
          </a:prstGeom>
          <a:solidFill>
            <a:srgbClr val="C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320040"/>
            <a:ext cx="7315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800" b="1">
                <a:solidFill>
                  <a:srgbClr val="D4AF37"/>
                </a:solidFill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0040"/>
            <a:ext cx="10058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决策过程  设想萌芽（1918—1950年代）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1371600" cy="502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25880"/>
            <a:ext cx="13716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1918年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1280160"/>
            <a:ext cx="9720072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94560" y="1371600"/>
            <a:ext cx="94183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孙中山在《建国方略》中首次提出三峡工程设想："以水闸堰其水，使舟得溯流以行，而又可资其水力"。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743200"/>
            <a:ext cx="1371600" cy="502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788920"/>
            <a:ext cx="13716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1956年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0" y="2743200"/>
            <a:ext cx="9720072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2834640"/>
            <a:ext cx="94183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毛泽东主席写下气势磅礴的诗篇："更立西江石壁，截断巫山云雨，高峡出平湖，神女应无恙，当惊世界殊"。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206240"/>
            <a:ext cx="1371600" cy="502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251959"/>
            <a:ext cx="13716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1958年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0" y="4206240"/>
            <a:ext cx="9720072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94560" y="4297679"/>
            <a:ext cx="94183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中共中央南宁会议期间，毛泽东主席要求会议安排讨论三峡工程问题，提出"积极准备，充分可靠"的八字方针，并请周恩来总理挂帅加强对三峡工程的领导。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88952" cy="6720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37160"/>
            <a:ext cx="12188952" cy="1005840"/>
          </a:xfrm>
          <a:prstGeom prst="rect">
            <a:avLst/>
          </a:prstGeom>
          <a:solidFill>
            <a:srgbClr val="C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320040"/>
            <a:ext cx="7315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800" b="1">
                <a:solidFill>
                  <a:srgbClr val="D4AF37"/>
                </a:solidFill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0040"/>
            <a:ext cx="10058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决策过程  重新论证（1986—1989年）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2560320" cy="13716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25603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412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48840"/>
            <a:ext cx="2560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参与专家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280160"/>
            <a:ext cx="2560320" cy="13716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371600"/>
            <a:ext cx="25603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65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148840"/>
            <a:ext cx="2560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单位部门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280160"/>
            <a:ext cx="2560320" cy="13716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371600"/>
            <a:ext cx="25603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148840"/>
            <a:ext cx="2560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专题论证报告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1280160"/>
            <a:ext cx="2560320" cy="13716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1371600"/>
            <a:ext cx="25603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148840"/>
            <a:ext cx="2560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大本资料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834640"/>
            <a:ext cx="11274552" cy="3291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926080"/>
            <a:ext cx="109087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1F3764"/>
                </a:solidFill>
              </a:defRPr>
            </a:pPr>
            <a:r>
              <a:t>1986年6月，党中央国务院下发15号文件，果断决定对三峡工程进行重新论证。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0908792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着重吸收持不同意见的专家参与，将各面不同意见印成7大本资料，人手一册，分发给全体专家讨论参考。经过近三年的重新论证，最终得出结论：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160520"/>
            <a:ext cx="10908792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251960"/>
            <a:ext cx="1054303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C00000"/>
                </a:solidFill>
              </a:defRPr>
            </a:pPr>
            <a:r>
              <a:t>"三峡工程建比不建好，早建比晚建有利"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663440"/>
            <a:ext cx="1054303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500" b="0">
                <a:solidFill>
                  <a:srgbClr val="333333"/>
                </a:solidFill>
              </a:defRPr>
            </a:pPr>
            <a:r>
              <a:t>实施方案：坝高185米、蓄水位175米（中坝方案）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88952" cy="6720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37160"/>
            <a:ext cx="12188952" cy="1005840"/>
          </a:xfrm>
          <a:prstGeom prst="rect">
            <a:avLst/>
          </a:prstGeom>
          <a:solidFill>
            <a:srgbClr val="C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320040"/>
            <a:ext cx="7315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800" b="1">
                <a:solidFill>
                  <a:srgbClr val="D4AF37"/>
                </a:solidFill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0040"/>
            <a:ext cx="10058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决策过程  全国人大审议与立项（1992年）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1371600"/>
            <a:ext cx="2926080" cy="182880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1508760"/>
            <a:ext cx="292608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1767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651760"/>
            <a:ext cx="2926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赞成票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1371600"/>
            <a:ext cx="2926080" cy="18288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1508760"/>
            <a:ext cx="292608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177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651760"/>
            <a:ext cx="2926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反对票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1371600"/>
            <a:ext cx="2926080" cy="1828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508760"/>
            <a:ext cx="292608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664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651760"/>
            <a:ext cx="2926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弃权票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474720"/>
            <a:ext cx="11274552" cy="2651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56616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C00000"/>
                </a:solidFill>
              </a:defRPr>
            </a:pPr>
            <a:r>
              <a:t>1992年4月3日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977639"/>
            <a:ext cx="109728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700" b="0">
                <a:solidFill>
                  <a:srgbClr val="333333"/>
                </a:solidFill>
              </a:defRPr>
            </a:pPr>
            <a:r>
              <a:t>七届全国人大五次会议通过了《关于兴建长江三峡工程的决议》，三峡工程被列入中国国民经济和社会发展十年规划。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66344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700" b="1">
                <a:solidFill>
                  <a:srgbClr val="1F3764"/>
                </a:solidFill>
              </a:defRPr>
            </a:pPr>
            <a:r>
              <a:t>1994年12月14日，三峡工程正式开工。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88952" cy="6720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37160"/>
            <a:ext cx="12188952" cy="1005840"/>
          </a:xfrm>
          <a:prstGeom prst="rect">
            <a:avLst/>
          </a:prstGeom>
          <a:solidFill>
            <a:srgbClr val="C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320040"/>
            <a:ext cx="7315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800" b="1">
                <a:solidFill>
                  <a:srgbClr val="D4AF37"/>
                </a:solidFill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004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群体决策的核心特征分析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5577840" cy="21945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548640" cy="5486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353312"/>
            <a:ext cx="5486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353312"/>
            <a:ext cx="4846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C00000"/>
                </a:solidFill>
              </a:defRPr>
            </a:pPr>
            <a:r>
              <a:t>广泛参与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783080"/>
            <a:ext cx="4846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1F3764"/>
                </a:solidFill>
              </a:defRPr>
            </a:pPr>
            <a:r>
              <a:t>多层级、多主体的协同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194560"/>
            <a:ext cx="539496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中央决策层、政府部门、412名专家学者、地方代表、100多人实地调研群众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280160"/>
            <a:ext cx="5577840" cy="21945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280160"/>
            <a:ext cx="548640" cy="5486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353312"/>
            <a:ext cx="5486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1353312"/>
            <a:ext cx="4846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C00000"/>
                </a:solidFill>
              </a:defRPr>
            </a:pPr>
            <a:r>
              <a:t>包容异议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1783080"/>
            <a:ext cx="4846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1F3764"/>
                </a:solidFill>
              </a:defRPr>
            </a:pPr>
            <a:r>
              <a:t>反对意见的制度化表达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194560"/>
            <a:ext cx="539496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孙越崎率众提交反对报告；80多岁老专家代表年龄总和246岁的三位专家陈述反对意见——均被如实记录并印发参考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657600"/>
            <a:ext cx="5577840" cy="21945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657600"/>
            <a:ext cx="548640" cy="5486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730752"/>
            <a:ext cx="5486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730752"/>
            <a:ext cx="4846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C00000"/>
                </a:solidFill>
              </a:defRPr>
            </a:pPr>
            <a:r>
              <a:t>科学支撑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160520"/>
            <a:ext cx="4846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1F3764"/>
                </a:solidFill>
              </a:defRPr>
            </a:pPr>
            <a:r>
              <a:t>证据驱动的决策机制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572000"/>
            <a:ext cx="539496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数千名科技人员、400+项研究成果、14个专题论证报告；以"好处最大、坏处最小"为决策准则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3657600"/>
            <a:ext cx="5577840" cy="21945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3657600"/>
            <a:ext cx="548640" cy="5486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730752"/>
            <a:ext cx="5486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3730752"/>
            <a:ext cx="4846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C00000"/>
                </a:solidFill>
              </a:defRPr>
            </a:pPr>
            <a:r>
              <a:t>民主集中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4160520"/>
            <a:ext cx="4846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1F3764"/>
                </a:solidFill>
              </a:defRPr>
            </a:pPr>
            <a:r>
              <a:t>充分讨论后统一决策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572000"/>
            <a:ext cx="539496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先充分讨论（包括争论），再由最高决策机构（全国人大）做出最终决定，代表面广泛，合法性充分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88952" cy="6720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37160"/>
            <a:ext cx="12188952" cy="1005840"/>
          </a:xfrm>
          <a:prstGeom prst="rect">
            <a:avLst/>
          </a:prstGeom>
          <a:solidFill>
            <a:srgbClr val="C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320040"/>
            <a:ext cx="7315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800" b="1">
                <a:solidFill>
                  <a:srgbClr val="D4AF37"/>
                </a:solidFill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004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实地调研与民意采集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5303520" cy="4846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49377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C00000"/>
                </a:solidFill>
              </a:defRPr>
            </a:pPr>
            <a:r>
              <a:t>调研过程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920240"/>
            <a:ext cx="45720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965960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965960"/>
            <a:ext cx="4389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国家计委副主任带队，100多人乘船出发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697480"/>
            <a:ext cx="45720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743200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743200"/>
            <a:ext cx="4389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从重庆出发，沿江而下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474720"/>
            <a:ext cx="45720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520439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520439"/>
            <a:ext cx="4389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调研库区、坝址和受益区情况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251960"/>
            <a:ext cx="45720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297680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297680"/>
            <a:ext cx="4389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在洞庭湖地区和江汉平原查看洪水灾害遗迹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029200"/>
            <a:ext cx="45720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074920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074920"/>
            <a:ext cx="4389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听取受灾居民诉说对建设大坝的期盼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0" y="1280160"/>
            <a:ext cx="5879592" cy="4846320"/>
          </a:xfrm>
          <a:prstGeom prst="rect">
            <a:avLst/>
          </a:prstGeom>
          <a:solidFill>
            <a:srgbClr val="C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1371600"/>
            <a:ext cx="5486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D4AF37"/>
                </a:solidFill>
              </a:defRPr>
            </a:pPr>
            <a:r>
              <a:t>调研意义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2103120"/>
            <a:ext cx="73152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2103120"/>
            <a:ext cx="53035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对三峡工程防洪为主的功能定位起到关键作用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3108960"/>
            <a:ext cx="73152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3108960"/>
            <a:ext cx="53035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促成"早建三峡"认识的统一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4114800"/>
            <a:ext cx="73152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4114800"/>
            <a:ext cx="53035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对最终决策的投票起到了决定性作用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0" y="5120640"/>
            <a:ext cx="73152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5120640"/>
            <a:ext cx="53035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让决策者亲身感受群众对防洪的期盼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88952" cy="6720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37160"/>
            <a:ext cx="12188952" cy="1005840"/>
          </a:xfrm>
          <a:prstGeom prst="rect">
            <a:avLst/>
          </a:prstGeom>
          <a:solidFill>
            <a:srgbClr val="C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320040"/>
            <a:ext cx="7315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800" b="1">
                <a:solidFill>
                  <a:srgbClr val="D4AF37"/>
                </a:solidFill>
              </a:defRPr>
            </a:pPr>
            <a: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004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复杂利益格局的协调机制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2743200" cy="4297680"/>
          </a:xfrm>
          <a:prstGeom prst="rect">
            <a:avLst/>
          </a:prstGeom>
          <a:solidFill>
            <a:srgbClr val="1F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554480"/>
            <a:ext cx="27432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防洪为主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286000"/>
            <a:ext cx="219456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468880"/>
            <a:ext cx="2377440" cy="2926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功能定位以防洪为核心</a:t>
            </a:r>
            <a:br/>
            <a:r>
              <a:t>不可替代效益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371600"/>
            <a:ext cx="2743200" cy="42976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1554480"/>
            <a:ext cx="27432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移民优先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6160" y="2286000"/>
            <a:ext cx="219456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2468880"/>
            <a:ext cx="2377440" cy="2926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"搬得出、稳得住、能致富"</a:t>
            </a:r>
            <a:br/>
            <a:r>
              <a:t>后期扶持工作领导小组成立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371600"/>
            <a:ext cx="2743200" cy="4297680"/>
          </a:xfrm>
          <a:prstGeom prst="rect">
            <a:avLst/>
          </a:prstGeom>
          <a:solidFill>
            <a:srgbClr val="0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554480"/>
            <a:ext cx="27432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生态补偿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2286000"/>
            <a:ext cx="219456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468880"/>
            <a:ext cx="2377440" cy="2926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建立库区产业发展基金</a:t>
            </a:r>
            <a:br/>
            <a:r>
              <a:t>后期扶持基金等优惠政策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1371600"/>
            <a:ext cx="2743200" cy="429768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1554480"/>
            <a:ext cx="27432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跨区域协调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18320" y="2286000"/>
            <a:ext cx="219456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2468880"/>
            <a:ext cx="2377440" cy="2926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联席会议制度协调</a:t>
            </a:r>
            <a:br/>
            <a:r>
              <a:t>20省市自治区支援工作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88952" cy="6720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37160"/>
            <a:ext cx="12188952" cy="1005840"/>
          </a:xfrm>
          <a:prstGeom prst="rect">
            <a:avLst/>
          </a:prstGeom>
          <a:solidFill>
            <a:srgbClr val="C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320040"/>
            <a:ext cx="7315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800" b="1">
                <a:solidFill>
                  <a:srgbClr val="D4AF37"/>
                </a:solidFill>
              </a:defRPr>
            </a:pPr>
            <a: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004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决策成效与历史验证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5577840" cy="228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109728" cy="2286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371600"/>
            <a:ext cx="51206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C00000"/>
                </a:solidFill>
              </a:defRPr>
            </a:pPr>
            <a:r>
              <a:t>防洪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20239"/>
            <a:ext cx="512064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>
                <a:solidFill>
                  <a:srgbClr val="1F3764"/>
                </a:solidFill>
              </a:defRPr>
            </a:pPr>
            <a:r>
              <a:t>防洪标准从十年一遇</a:t>
            </a:r>
            <a:br/>
            <a:r>
              <a:t>提高到百年一遇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截至2020年累计</a:t>
            </a:r>
            <a:br/>
            <a:r>
              <a:t>拦洪超1800亿m³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280160"/>
            <a:ext cx="5577840" cy="228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280160"/>
            <a:ext cx="109728" cy="2286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371600"/>
            <a:ext cx="51206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C00000"/>
                </a:solidFill>
              </a:defRPr>
            </a:pPr>
            <a:r>
              <a:t>发电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920239"/>
            <a:ext cx="512064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>
                <a:solidFill>
                  <a:srgbClr val="1F3764"/>
                </a:solidFill>
              </a:defRPr>
            </a:pPr>
            <a:r>
              <a:t>装机容量2250万千瓦</a:t>
            </a:r>
            <a:br/>
            <a:r>
              <a:t>年发电量约1000亿度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743200"/>
            <a:ext cx="51206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世界最大</a:t>
            </a:r>
            <a:br/>
            <a:r>
              <a:t>清洁能源生产基地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840479"/>
            <a:ext cx="5577840" cy="228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840479"/>
            <a:ext cx="109728" cy="2286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931919"/>
            <a:ext cx="51206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C00000"/>
                </a:solidFill>
              </a:defRPr>
            </a:pPr>
            <a:r>
              <a:t>航运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480559"/>
            <a:ext cx="512064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>
                <a:solidFill>
                  <a:srgbClr val="1F3764"/>
                </a:solidFill>
              </a:defRPr>
            </a:pPr>
            <a:r>
              <a:t>万吨船队直达重庆</a:t>
            </a:r>
            <a:br/>
            <a:r>
              <a:t>货运量提前19年达标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303519"/>
            <a:ext cx="51206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截至2020年累计</a:t>
            </a:r>
            <a:br/>
            <a:r>
              <a:t>过闸货运14.83亿吨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3840479"/>
            <a:ext cx="5577840" cy="228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60" y="3840479"/>
            <a:ext cx="109728" cy="2286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3931919"/>
            <a:ext cx="51206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C00000"/>
                </a:solidFill>
              </a:defRPr>
            </a:pPr>
            <a:r>
              <a:t>水资源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480559"/>
            <a:ext cx="512064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>
                <a:solidFill>
                  <a:srgbClr val="1F3764"/>
                </a:solidFill>
              </a:defRPr>
            </a:pPr>
            <a:r>
              <a:t>枯水季节补水</a:t>
            </a:r>
            <a:br/>
            <a:r>
              <a:t>200多亿立方米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5303519"/>
            <a:ext cx="51206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重要淡水资源的</a:t>
            </a:r>
            <a:br/>
            <a:r>
              <a:t>战略储备库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88952" cy="6720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37160"/>
            <a:ext cx="12188952" cy="1005840"/>
          </a:xfrm>
          <a:prstGeom prst="rect">
            <a:avLst/>
          </a:prstGeom>
          <a:solidFill>
            <a:srgbClr val="C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320040"/>
            <a:ext cx="7315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800" b="1">
                <a:solidFill>
                  <a:srgbClr val="D4AF37"/>
                </a:solidFill>
              </a:defRPr>
            </a:pPr>
            <a: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004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群体决策的启示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1325880"/>
            <a:ext cx="548640" cy="54864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5486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307592"/>
            <a:ext cx="3657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C00000"/>
                </a:solidFill>
              </a:defRPr>
            </a:pPr>
            <a:r>
              <a:t>共识构建先于决策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1508760"/>
            <a:ext cx="36576" cy="3200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307592"/>
            <a:ext cx="67665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重大工程决策需要经历充分的讨论、争论和说服过程，不能跳过共识构建阶段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965960"/>
            <a:ext cx="11274552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200" y="2286000"/>
            <a:ext cx="548640" cy="54864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331720"/>
            <a:ext cx="5486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267712"/>
            <a:ext cx="3657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C00000"/>
                </a:solidFill>
              </a:defRPr>
            </a:pPr>
            <a:r>
              <a:t>包容反对意见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46320" y="2468880"/>
            <a:ext cx="36576" cy="3200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2267712"/>
            <a:ext cx="67665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反对意见不是阻力，而是完善方案、降低风险的重要力量，制度化吸收有助于提高决策质量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926080"/>
            <a:ext cx="11274552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7200" y="3246120"/>
            <a:ext cx="548640" cy="54864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291840"/>
            <a:ext cx="5486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227832"/>
            <a:ext cx="3657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C00000"/>
                </a:solidFill>
              </a:defRPr>
            </a:pPr>
            <a:r>
              <a:t>科学支撑不可或缺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46320" y="3429000"/>
            <a:ext cx="36576" cy="3200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0" y="3227832"/>
            <a:ext cx="67665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群体决策不等于少数服从多数，需要以科学证据为基础，在充分信息条件下做出判断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886200"/>
            <a:ext cx="11274552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7200" y="4206240"/>
            <a:ext cx="548640" cy="54864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251960"/>
            <a:ext cx="5486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187952"/>
            <a:ext cx="3657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C00000"/>
                </a:solidFill>
              </a:defRPr>
            </a:pPr>
            <a:r>
              <a:t>代表性与合法性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46320" y="4389120"/>
            <a:ext cx="36576" cy="3200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0" y="4187952"/>
            <a:ext cx="67665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全国人大审议机制为重大决策提供了广泛的代表性和民主合法性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846320"/>
            <a:ext cx="11274552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7200" y="5166360"/>
            <a:ext cx="548640" cy="54864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5212080"/>
            <a:ext cx="5486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5148072"/>
            <a:ext cx="3657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C00000"/>
                </a:solidFill>
              </a:defRPr>
            </a:pPr>
            <a:r>
              <a:t>长期视角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46320" y="5349240"/>
            <a:ext cx="36576" cy="3200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0" y="5148072"/>
            <a:ext cx="67665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三峡工程决策跨越近百年，重大基础设施决策需要超越任期思维，以历史视野审视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806440"/>
            <a:ext cx="11274552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88952" cy="6720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37160"/>
            <a:ext cx="12188952" cy="1005840"/>
          </a:xfrm>
          <a:prstGeom prst="rect">
            <a:avLst/>
          </a:prstGeom>
          <a:solidFill>
            <a:srgbClr val="C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总 结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371600"/>
            <a:ext cx="9445752" cy="3200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0" y="1371600"/>
            <a:ext cx="9445752" cy="914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1554480"/>
            <a:ext cx="9079992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1">
                <a:solidFill>
                  <a:srgbClr val="C00000"/>
                </a:solidFill>
              </a:defRPr>
            </a:pPr>
            <a:r>
              <a:t>三峡工程决策过程的制度价值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194560"/>
            <a:ext cx="7315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✓  "科学决策、民主决策"的典范机制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743200"/>
            <a:ext cx="7315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✓  充分讨论 + 人大审议 = 民主合法性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291839"/>
            <a:ext cx="7315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✓  412名专家参与 = 科学支撑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3840479"/>
            <a:ext cx="7315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✓  百年跨度检验 = 历史有效性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754880"/>
            <a:ext cx="11274552" cy="1371600"/>
          </a:xfrm>
          <a:prstGeom prst="rect">
            <a:avLst/>
          </a:prstGeom>
          <a:solidFill>
            <a:srgbClr val="C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892040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"建比不建好，早建比晚建有利"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44068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FFDDDD"/>
                </a:solidFill>
              </a:defRPr>
            </a:pPr>
            <a:r>
              <a:t>—— 1989年三峡工程论证领导小组第十次会议结论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88952" cy="6720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37160"/>
            <a:ext cx="12188952" cy="1005840"/>
          </a:xfrm>
          <a:prstGeom prst="rect">
            <a:avLst/>
          </a:prstGeom>
          <a:solidFill>
            <a:srgbClr val="C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参考资料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73152" cy="6400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1. 环球时报，《工程院院士：建三峡大坝是决策民主化典范》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77440"/>
            <a:ext cx="73152" cy="6400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2. 国家发展和改革委员会，《三峡工程——承载着几代人梦想的世纪工程》，高俊才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383280"/>
            <a:ext cx="73152" cy="6400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3. 中国经济网，《转变经济增长方式的重要探索》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389120"/>
            <a:ext cx="73152" cy="6400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48056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4. 中国水利网，《高峡出平湖当惊世界殊——写在三峡水利枢纽工程完成整体竣工验收之际》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035040"/>
            <a:ext cx="12188952" cy="3657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080760"/>
            <a:ext cx="11274552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谢谢观看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