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
            <a:ext cx="12188952" cy="6327648"/>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457200"/>
            <a:ext cx="10725912" cy="914400"/>
          </a:xfrm>
          <a:prstGeom prst="rect">
            <a:avLst/>
          </a:prstGeom>
          <a:noFill/>
        </p:spPr>
        <p:txBody>
          <a:bodyPr wrap="square">
            <a:spAutoFit/>
          </a:bodyPr>
          <a:lstStyle/>
          <a:p>
            <a:pPr algn="ctr">
              <a:defRPr sz="4400" b="1">
                <a:solidFill>
                  <a:srgbClr val="1E3A5F"/>
                </a:solidFill>
              </a:defRPr>
            </a:pPr>
            <a:r>
              <a:t>群体决策案例分析</a:t>
            </a:r>
          </a:p>
        </p:txBody>
      </p:sp>
      <p:sp>
        <p:nvSpPr>
          <p:cNvPr id="7" name="TextBox 6"/>
          <p:cNvSpPr txBox="1"/>
          <p:nvPr/>
        </p:nvSpPr>
        <p:spPr>
          <a:xfrm>
            <a:off x="731520" y="1325880"/>
            <a:ext cx="10725912" cy="457200"/>
          </a:xfrm>
          <a:prstGeom prst="rect">
            <a:avLst/>
          </a:prstGeom>
          <a:noFill/>
        </p:spPr>
        <p:txBody>
          <a:bodyPr wrap="square">
            <a:spAutoFit/>
          </a:bodyPr>
          <a:lstStyle/>
          <a:p>
            <a:pPr algn="ctr">
              <a:defRPr sz="1800" b="0">
                <a:solidFill>
                  <a:srgbClr val="6B7280"/>
                </a:solidFill>
              </a:defRPr>
            </a:pPr>
            <a:r>
              <a:t>以三峡工程决策过程为例的深度研究</a:t>
            </a:r>
          </a:p>
        </p:txBody>
      </p:sp>
      <p:sp>
        <p:nvSpPr>
          <p:cNvPr id="8" name="Rectangle 7"/>
          <p:cNvSpPr/>
          <p:nvPr/>
        </p:nvSpPr>
        <p:spPr>
          <a:xfrm>
            <a:off x="914400" y="1920240"/>
            <a:ext cx="10360152" cy="27432"/>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377440"/>
            <a:ext cx="2423160" cy="731520"/>
          </a:xfrm>
          <a:prstGeom prst="rect">
            <a:avLst/>
          </a:prstGeom>
          <a:noFill/>
        </p:spPr>
        <p:txBody>
          <a:bodyPr wrap="square">
            <a:spAutoFit/>
          </a:bodyPr>
          <a:lstStyle/>
          <a:p>
            <a:pPr algn="ctr">
              <a:defRPr sz="2800" b="1">
                <a:solidFill>
                  <a:srgbClr val="FFFFFF"/>
                </a:solidFill>
              </a:defRPr>
            </a:pPr>
            <a:r>
              <a:t>近百年</a:t>
            </a:r>
          </a:p>
        </p:txBody>
      </p:sp>
      <p:sp>
        <p:nvSpPr>
          <p:cNvPr id="11" name="TextBox 10"/>
          <p:cNvSpPr txBox="1"/>
          <p:nvPr/>
        </p:nvSpPr>
        <p:spPr>
          <a:xfrm>
            <a:off x="914400" y="3108960"/>
            <a:ext cx="2423160" cy="548640"/>
          </a:xfrm>
          <a:prstGeom prst="rect">
            <a:avLst/>
          </a:prstGeom>
          <a:noFill/>
        </p:spPr>
        <p:txBody>
          <a:bodyPr wrap="square">
            <a:spAutoFit/>
          </a:bodyPr>
          <a:lstStyle/>
          <a:p>
            <a:pPr algn="ctr">
              <a:defRPr sz="1300" b="0">
                <a:solidFill>
                  <a:srgbClr val="BBCCEE"/>
                </a:solidFill>
              </a:defRPr>
            </a:pPr>
            <a:r>
              <a:t>决策跨度</a:t>
            </a:r>
          </a:p>
        </p:txBody>
      </p:sp>
      <p:sp>
        <p:nvSpPr>
          <p:cNvPr id="12" name="Rectangle 11"/>
          <p:cNvSpPr/>
          <p:nvPr/>
        </p:nvSpPr>
        <p:spPr>
          <a:xfrm>
            <a:off x="352044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0440" y="2377440"/>
            <a:ext cx="2423160" cy="731520"/>
          </a:xfrm>
          <a:prstGeom prst="rect">
            <a:avLst/>
          </a:prstGeom>
          <a:noFill/>
        </p:spPr>
        <p:txBody>
          <a:bodyPr wrap="square">
            <a:spAutoFit/>
          </a:bodyPr>
          <a:lstStyle/>
          <a:p>
            <a:pPr algn="ctr">
              <a:defRPr sz="2800" b="1">
                <a:solidFill>
                  <a:srgbClr val="FFFFFF"/>
                </a:solidFill>
              </a:defRPr>
            </a:pPr>
            <a:r>
              <a:t>412位</a:t>
            </a:r>
          </a:p>
        </p:txBody>
      </p:sp>
      <p:sp>
        <p:nvSpPr>
          <p:cNvPr id="14" name="TextBox 13"/>
          <p:cNvSpPr txBox="1"/>
          <p:nvPr/>
        </p:nvSpPr>
        <p:spPr>
          <a:xfrm>
            <a:off x="3520440" y="3108960"/>
            <a:ext cx="2423160" cy="548640"/>
          </a:xfrm>
          <a:prstGeom prst="rect">
            <a:avLst/>
          </a:prstGeom>
          <a:noFill/>
        </p:spPr>
        <p:txBody>
          <a:bodyPr wrap="square">
            <a:spAutoFit/>
          </a:bodyPr>
          <a:lstStyle/>
          <a:p>
            <a:pPr algn="ctr">
              <a:defRPr sz="1300" b="0">
                <a:solidFill>
                  <a:srgbClr val="BBCCEE"/>
                </a:solidFill>
              </a:defRPr>
            </a:pPr>
            <a:r>
              <a:t>论证专家</a:t>
            </a:r>
          </a:p>
        </p:txBody>
      </p:sp>
      <p:sp>
        <p:nvSpPr>
          <p:cNvPr id="15" name="Rectangle 14"/>
          <p:cNvSpPr/>
          <p:nvPr/>
        </p:nvSpPr>
        <p:spPr>
          <a:xfrm>
            <a:off x="612648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26480" y="2377440"/>
            <a:ext cx="2423160" cy="731520"/>
          </a:xfrm>
          <a:prstGeom prst="rect">
            <a:avLst/>
          </a:prstGeom>
          <a:noFill/>
        </p:spPr>
        <p:txBody>
          <a:bodyPr wrap="square">
            <a:spAutoFit/>
          </a:bodyPr>
          <a:lstStyle/>
          <a:p>
            <a:pPr algn="ctr">
              <a:defRPr sz="2800" b="1">
                <a:solidFill>
                  <a:srgbClr val="FFFFFF"/>
                </a:solidFill>
              </a:defRPr>
            </a:pPr>
            <a:r>
              <a:t>14份</a:t>
            </a:r>
          </a:p>
        </p:txBody>
      </p:sp>
      <p:sp>
        <p:nvSpPr>
          <p:cNvPr id="17" name="TextBox 16"/>
          <p:cNvSpPr txBox="1"/>
          <p:nvPr/>
        </p:nvSpPr>
        <p:spPr>
          <a:xfrm>
            <a:off x="6126480" y="3108960"/>
            <a:ext cx="2423160" cy="548640"/>
          </a:xfrm>
          <a:prstGeom prst="rect">
            <a:avLst/>
          </a:prstGeom>
          <a:noFill/>
        </p:spPr>
        <p:txBody>
          <a:bodyPr wrap="square">
            <a:spAutoFit/>
          </a:bodyPr>
          <a:lstStyle/>
          <a:p>
            <a:pPr algn="ctr">
              <a:defRPr sz="1300" b="0">
                <a:solidFill>
                  <a:srgbClr val="BBCCEE"/>
                </a:solidFill>
              </a:defRPr>
            </a:pPr>
            <a:r>
              <a:t>论证报告</a:t>
            </a:r>
          </a:p>
        </p:txBody>
      </p:sp>
      <p:sp>
        <p:nvSpPr>
          <p:cNvPr id="18" name="Rectangle 17"/>
          <p:cNvSpPr/>
          <p:nvPr/>
        </p:nvSpPr>
        <p:spPr>
          <a:xfrm>
            <a:off x="8732520" y="2240280"/>
            <a:ext cx="2423160" cy="1645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20" y="2377440"/>
            <a:ext cx="2423160" cy="731520"/>
          </a:xfrm>
          <a:prstGeom prst="rect">
            <a:avLst/>
          </a:prstGeom>
          <a:noFill/>
        </p:spPr>
        <p:txBody>
          <a:bodyPr wrap="square">
            <a:spAutoFit/>
          </a:bodyPr>
          <a:lstStyle/>
          <a:p>
            <a:pPr algn="ctr">
              <a:defRPr sz="2800" b="1">
                <a:solidFill>
                  <a:srgbClr val="FFFFFF"/>
                </a:solidFill>
              </a:defRPr>
            </a:pPr>
            <a:r>
              <a:t>1767票</a:t>
            </a:r>
          </a:p>
        </p:txBody>
      </p:sp>
      <p:sp>
        <p:nvSpPr>
          <p:cNvPr id="20" name="TextBox 19"/>
          <p:cNvSpPr txBox="1"/>
          <p:nvPr/>
        </p:nvSpPr>
        <p:spPr>
          <a:xfrm>
            <a:off x="8732520" y="3108960"/>
            <a:ext cx="2423160" cy="548640"/>
          </a:xfrm>
          <a:prstGeom prst="rect">
            <a:avLst/>
          </a:prstGeom>
          <a:noFill/>
        </p:spPr>
        <p:txBody>
          <a:bodyPr wrap="square">
            <a:spAutoFit/>
          </a:bodyPr>
          <a:lstStyle/>
          <a:p>
            <a:pPr algn="ctr">
              <a:defRPr sz="1300" b="0">
                <a:solidFill>
                  <a:srgbClr val="BBCCEE"/>
                </a:solidFill>
              </a:defRPr>
            </a:pPr>
            <a:r>
              <a:t>人大赞成</a:t>
            </a:r>
          </a:p>
        </p:txBody>
      </p:sp>
      <p:sp>
        <p:nvSpPr>
          <p:cNvPr id="21" name="Rectangle 20"/>
          <p:cNvSpPr/>
          <p:nvPr/>
        </p:nvSpPr>
        <p:spPr>
          <a:xfrm>
            <a:off x="914400" y="4160520"/>
            <a:ext cx="10360152" cy="1965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160520"/>
            <a:ext cx="54864" cy="196596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43000" y="4279392"/>
            <a:ext cx="9875520" cy="320040"/>
          </a:xfrm>
          <a:prstGeom prst="rect">
            <a:avLst/>
          </a:prstGeom>
          <a:noFill/>
        </p:spPr>
        <p:txBody>
          <a:bodyPr wrap="square">
            <a:spAutoFit/>
          </a:bodyPr>
          <a:lstStyle/>
          <a:p>
            <a:pPr algn="l">
              <a:defRPr sz="1300" b="1">
                <a:solidFill>
                  <a:srgbClr val="1E3A5F"/>
                </a:solidFill>
              </a:defRPr>
            </a:pPr>
            <a:r>
              <a:t>研究说明</a:t>
            </a:r>
          </a:p>
        </p:txBody>
      </p:sp>
      <p:sp>
        <p:nvSpPr>
          <p:cNvPr id="24" name="TextBox 23"/>
          <p:cNvSpPr txBox="1"/>
          <p:nvPr/>
        </p:nvSpPr>
        <p:spPr>
          <a:xfrm>
            <a:off x="1143000" y="4617720"/>
            <a:ext cx="9875520" cy="1371600"/>
          </a:xfrm>
          <a:prstGeom prst="rect">
            <a:avLst/>
          </a:prstGeom>
          <a:noFill/>
        </p:spPr>
        <p:txBody>
          <a:bodyPr wrap="square">
            <a:spAutoFit/>
          </a:bodyPr>
          <a:lstStyle/>
          <a:p>
            <a:pPr algn="l">
              <a:defRPr sz="1200" b="0">
                <a:solidFill>
                  <a:srgbClr val="1A1A1A"/>
                </a:solidFill>
              </a:defRPr>
            </a:pPr>
            <a:r>
              <a:t>本报告以三峡工程为案例，系统分析重大工程决策中群体决策机制的运行原理、制度设计与历史检验，从1918年孙中山首次提出建设设想起，至2006年主体工程完工，跨越近百年决策史，为群体决策理论提供中国本土案例。</a:t>
            </a:r>
          </a:p>
        </p:txBody>
      </p:sp>
      <p:sp>
        <p:nvSpPr>
          <p:cNvPr id="25" name="TextBox 24"/>
          <p:cNvSpPr txBox="1"/>
          <p:nvPr/>
        </p:nvSpPr>
        <p:spPr>
          <a:xfrm>
            <a:off x="457200" y="6473952"/>
            <a:ext cx="11274552" cy="320040"/>
          </a:xfrm>
          <a:prstGeom prst="rect">
            <a:avLst/>
          </a:prstGeom>
          <a:noFill/>
        </p:spPr>
        <p:txBody>
          <a:bodyPr wrap="square">
            <a:spAutoFit/>
          </a:bodyPr>
          <a:lstStyle/>
          <a:p>
            <a:pPr algn="ctr">
              <a:defRPr sz="1000" b="0">
                <a:solidFill>
                  <a:srgbClr val="AAAAAA"/>
                </a:solidFill>
              </a:defRPr>
            </a:pPr>
            <a:r>
              <a:t>2026年4月  ·  学术案例研究</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562356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56032"/>
            <a:ext cx="11274552" cy="411480"/>
          </a:xfrm>
          <a:prstGeom prst="rect">
            <a:avLst/>
          </a:prstGeom>
          <a:noFill/>
        </p:spPr>
        <p:txBody>
          <a:bodyPr wrap="square">
            <a:spAutoFit/>
          </a:bodyPr>
          <a:lstStyle/>
          <a:p>
            <a:pPr algn="l">
              <a:defRPr sz="2400" b="1">
                <a:solidFill>
                  <a:srgbClr val="FFFFFF"/>
                </a:solidFill>
              </a:defRPr>
            </a:pPr>
            <a:r>
              <a:t>目  录</a:t>
            </a:r>
          </a:p>
        </p:txBody>
      </p:sp>
      <p:sp>
        <p:nvSpPr>
          <p:cNvPr id="5" name="TextBox 4"/>
          <p:cNvSpPr txBox="1"/>
          <p:nvPr/>
        </p:nvSpPr>
        <p:spPr>
          <a:xfrm>
            <a:off x="457200" y="548640"/>
            <a:ext cx="11274552" cy="274320"/>
          </a:xfrm>
          <a:prstGeom prst="rect">
            <a:avLst/>
          </a:prstGeom>
          <a:noFill/>
        </p:spPr>
        <p:txBody>
          <a:bodyPr wrap="square">
            <a:spAutoFit/>
          </a:bodyPr>
          <a:lstStyle/>
          <a:p>
            <a:pPr algn="l">
              <a:defRPr sz="1000" b="0">
                <a:solidFill>
                  <a:srgbClr val="99AACC"/>
                </a:solidFill>
              </a:defRPr>
            </a:pPr>
            <a:r>
              <a:t>CONTENTS</a:t>
            </a:r>
          </a:p>
        </p:txBody>
      </p:sp>
      <p:sp>
        <p:nvSpPr>
          <p:cNvPr id="6" name="Rectangle 5"/>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05840"/>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097280"/>
            <a:ext cx="548640" cy="365760"/>
          </a:xfrm>
          <a:prstGeom prst="rect">
            <a:avLst/>
          </a:prstGeom>
          <a:noFill/>
        </p:spPr>
        <p:txBody>
          <a:bodyPr wrap="square">
            <a:spAutoFit/>
          </a:bodyPr>
          <a:lstStyle/>
          <a:p>
            <a:pPr algn="ctr">
              <a:defRPr sz="1400" b="1">
                <a:solidFill>
                  <a:srgbClr val="FFFFFF"/>
                </a:solidFill>
              </a:defRPr>
            </a:pPr>
            <a:r>
              <a:t>01</a:t>
            </a:r>
          </a:p>
        </p:txBody>
      </p:sp>
      <p:sp>
        <p:nvSpPr>
          <p:cNvPr id="9" name="Rectangle 8"/>
          <p:cNvSpPr/>
          <p:nvPr/>
        </p:nvSpPr>
        <p:spPr>
          <a:xfrm>
            <a:off x="1097280" y="1005840"/>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1051560"/>
            <a:ext cx="4572000" cy="320040"/>
          </a:xfrm>
          <a:prstGeom prst="rect">
            <a:avLst/>
          </a:prstGeom>
          <a:noFill/>
        </p:spPr>
        <p:txBody>
          <a:bodyPr wrap="square">
            <a:spAutoFit/>
          </a:bodyPr>
          <a:lstStyle/>
          <a:p>
            <a:pPr algn="l">
              <a:defRPr sz="1400" b="1">
                <a:solidFill>
                  <a:srgbClr val="1E3A5F"/>
                </a:solidFill>
              </a:defRPr>
            </a:pPr>
            <a:r>
              <a:t>案例背景与研究价值</a:t>
            </a:r>
          </a:p>
        </p:txBody>
      </p:sp>
      <p:sp>
        <p:nvSpPr>
          <p:cNvPr id="11" name="TextBox 10"/>
          <p:cNvSpPr txBox="1"/>
          <p:nvPr/>
        </p:nvSpPr>
        <p:spPr>
          <a:xfrm>
            <a:off x="1280160" y="1325880"/>
            <a:ext cx="9144000" cy="256032"/>
          </a:xfrm>
          <a:prstGeom prst="rect">
            <a:avLst/>
          </a:prstGeom>
          <a:noFill/>
        </p:spPr>
        <p:txBody>
          <a:bodyPr wrap="square">
            <a:spAutoFit/>
          </a:bodyPr>
          <a:lstStyle/>
          <a:p>
            <a:pPr algn="l">
              <a:defRPr sz="1100" b="0">
                <a:solidFill>
                  <a:srgbClr val="6B7280"/>
                </a:solidFill>
              </a:defRPr>
            </a:pPr>
            <a:r>
              <a:t>工程概况 · 研究意义 · 理论贡献</a:t>
            </a:r>
          </a:p>
        </p:txBody>
      </p:sp>
      <p:sp>
        <p:nvSpPr>
          <p:cNvPr id="12" name="Rectangle 11"/>
          <p:cNvSpPr/>
          <p:nvPr/>
        </p:nvSpPr>
        <p:spPr>
          <a:xfrm>
            <a:off x="1097280" y="1554480"/>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1773936"/>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865376"/>
            <a:ext cx="548640" cy="365760"/>
          </a:xfrm>
          <a:prstGeom prst="rect">
            <a:avLst/>
          </a:prstGeom>
          <a:noFill/>
        </p:spPr>
        <p:txBody>
          <a:bodyPr wrap="square">
            <a:spAutoFit/>
          </a:bodyPr>
          <a:lstStyle/>
          <a:p>
            <a:pPr algn="ctr">
              <a:defRPr sz="1400" b="1">
                <a:solidFill>
                  <a:srgbClr val="FFFFFF"/>
                </a:solidFill>
              </a:defRPr>
            </a:pPr>
            <a:r>
              <a:t>02</a:t>
            </a:r>
          </a:p>
        </p:txBody>
      </p:sp>
      <p:sp>
        <p:nvSpPr>
          <p:cNvPr id="15" name="Rectangle 14"/>
          <p:cNvSpPr/>
          <p:nvPr/>
        </p:nvSpPr>
        <p:spPr>
          <a:xfrm>
            <a:off x="1097280" y="1773936"/>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280160" y="1819656"/>
            <a:ext cx="4572000" cy="320040"/>
          </a:xfrm>
          <a:prstGeom prst="rect">
            <a:avLst/>
          </a:prstGeom>
          <a:noFill/>
        </p:spPr>
        <p:txBody>
          <a:bodyPr wrap="square">
            <a:spAutoFit/>
          </a:bodyPr>
          <a:lstStyle/>
          <a:p>
            <a:pPr algn="l">
              <a:defRPr sz="1400" b="1">
                <a:solidFill>
                  <a:srgbClr val="1E3A5F"/>
                </a:solidFill>
              </a:defRPr>
            </a:pPr>
            <a:r>
              <a:t>决策过程的历史回顾</a:t>
            </a:r>
          </a:p>
        </p:txBody>
      </p:sp>
      <p:sp>
        <p:nvSpPr>
          <p:cNvPr id="17" name="TextBox 16"/>
          <p:cNvSpPr txBox="1"/>
          <p:nvPr/>
        </p:nvSpPr>
        <p:spPr>
          <a:xfrm>
            <a:off x="1280160" y="2093976"/>
            <a:ext cx="9144000" cy="256032"/>
          </a:xfrm>
          <a:prstGeom prst="rect">
            <a:avLst/>
          </a:prstGeom>
          <a:noFill/>
        </p:spPr>
        <p:txBody>
          <a:bodyPr wrap="square">
            <a:spAutoFit/>
          </a:bodyPr>
          <a:lstStyle/>
          <a:p>
            <a:pPr algn="l">
              <a:defRPr sz="1100" b="0">
                <a:solidFill>
                  <a:srgbClr val="6B7280"/>
                </a:solidFill>
              </a:defRPr>
            </a:pPr>
            <a:r>
              <a:t>设想萌芽 · 初步论证 · 重新论证 · 人大审议</a:t>
            </a:r>
          </a:p>
        </p:txBody>
      </p:sp>
      <p:sp>
        <p:nvSpPr>
          <p:cNvPr id="18" name="Rectangle 17"/>
          <p:cNvSpPr/>
          <p:nvPr/>
        </p:nvSpPr>
        <p:spPr>
          <a:xfrm>
            <a:off x="1097280" y="2322576"/>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2542032"/>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2633472"/>
            <a:ext cx="548640" cy="365760"/>
          </a:xfrm>
          <a:prstGeom prst="rect">
            <a:avLst/>
          </a:prstGeom>
          <a:noFill/>
        </p:spPr>
        <p:txBody>
          <a:bodyPr wrap="square">
            <a:spAutoFit/>
          </a:bodyPr>
          <a:lstStyle/>
          <a:p>
            <a:pPr algn="ctr">
              <a:defRPr sz="1400" b="1">
                <a:solidFill>
                  <a:srgbClr val="FFFFFF"/>
                </a:solidFill>
              </a:defRPr>
            </a:pPr>
            <a:r>
              <a:t>03</a:t>
            </a:r>
          </a:p>
        </p:txBody>
      </p:sp>
      <p:sp>
        <p:nvSpPr>
          <p:cNvPr id="21" name="Rectangle 20"/>
          <p:cNvSpPr/>
          <p:nvPr/>
        </p:nvSpPr>
        <p:spPr>
          <a:xfrm>
            <a:off x="1097280" y="2542032"/>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80160" y="2587752"/>
            <a:ext cx="4572000" cy="320040"/>
          </a:xfrm>
          <a:prstGeom prst="rect">
            <a:avLst/>
          </a:prstGeom>
          <a:noFill/>
        </p:spPr>
        <p:txBody>
          <a:bodyPr wrap="square">
            <a:spAutoFit/>
          </a:bodyPr>
          <a:lstStyle/>
          <a:p>
            <a:pPr algn="l">
              <a:defRPr sz="1400" b="1">
                <a:solidFill>
                  <a:srgbClr val="1E3A5F"/>
                </a:solidFill>
              </a:defRPr>
            </a:pPr>
            <a:r>
              <a:t>群体决策机制深度分析</a:t>
            </a:r>
          </a:p>
        </p:txBody>
      </p:sp>
      <p:sp>
        <p:nvSpPr>
          <p:cNvPr id="23" name="TextBox 22"/>
          <p:cNvSpPr txBox="1"/>
          <p:nvPr/>
        </p:nvSpPr>
        <p:spPr>
          <a:xfrm>
            <a:off x="1280160" y="2862072"/>
            <a:ext cx="9144000" cy="256032"/>
          </a:xfrm>
          <a:prstGeom prst="rect">
            <a:avLst/>
          </a:prstGeom>
          <a:noFill/>
        </p:spPr>
        <p:txBody>
          <a:bodyPr wrap="square">
            <a:spAutoFit/>
          </a:bodyPr>
          <a:lstStyle/>
          <a:p>
            <a:pPr algn="l">
              <a:defRPr sz="1100" b="0">
                <a:solidFill>
                  <a:srgbClr val="6B7280"/>
                </a:solidFill>
              </a:defRPr>
            </a:pPr>
            <a:r>
              <a:t>广泛参与 · 包容异议 · 科学支撑 · 民主集中</a:t>
            </a:r>
          </a:p>
        </p:txBody>
      </p:sp>
      <p:sp>
        <p:nvSpPr>
          <p:cNvPr id="24" name="Rectangle 23"/>
          <p:cNvSpPr/>
          <p:nvPr/>
        </p:nvSpPr>
        <p:spPr>
          <a:xfrm>
            <a:off x="1097280" y="3090672"/>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3310128"/>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3401568"/>
            <a:ext cx="548640" cy="365760"/>
          </a:xfrm>
          <a:prstGeom prst="rect">
            <a:avLst/>
          </a:prstGeom>
          <a:noFill/>
        </p:spPr>
        <p:txBody>
          <a:bodyPr wrap="square">
            <a:spAutoFit/>
          </a:bodyPr>
          <a:lstStyle/>
          <a:p>
            <a:pPr algn="ctr">
              <a:defRPr sz="1400" b="1">
                <a:solidFill>
                  <a:srgbClr val="FFFFFF"/>
                </a:solidFill>
              </a:defRPr>
            </a:pPr>
            <a:r>
              <a:t>04</a:t>
            </a:r>
          </a:p>
        </p:txBody>
      </p:sp>
      <p:sp>
        <p:nvSpPr>
          <p:cNvPr id="27" name="Rectangle 26"/>
          <p:cNvSpPr/>
          <p:nvPr/>
        </p:nvSpPr>
        <p:spPr>
          <a:xfrm>
            <a:off x="1097280" y="3310128"/>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280160" y="3355848"/>
            <a:ext cx="4572000" cy="320040"/>
          </a:xfrm>
          <a:prstGeom prst="rect">
            <a:avLst/>
          </a:prstGeom>
          <a:noFill/>
        </p:spPr>
        <p:txBody>
          <a:bodyPr wrap="square">
            <a:spAutoFit/>
          </a:bodyPr>
          <a:lstStyle/>
          <a:p>
            <a:pPr algn="l">
              <a:defRPr sz="1400" b="1">
                <a:solidFill>
                  <a:srgbClr val="1E3A5F"/>
                </a:solidFill>
              </a:defRPr>
            </a:pPr>
            <a:r>
              <a:t>实地调研与民意整合</a:t>
            </a:r>
          </a:p>
        </p:txBody>
      </p:sp>
      <p:sp>
        <p:nvSpPr>
          <p:cNvPr id="29" name="TextBox 28"/>
          <p:cNvSpPr txBox="1"/>
          <p:nvPr/>
        </p:nvSpPr>
        <p:spPr>
          <a:xfrm>
            <a:off x="1280160" y="3630168"/>
            <a:ext cx="9144000" cy="256032"/>
          </a:xfrm>
          <a:prstGeom prst="rect">
            <a:avLst/>
          </a:prstGeom>
          <a:noFill/>
        </p:spPr>
        <p:txBody>
          <a:bodyPr wrap="square">
            <a:spAutoFit/>
          </a:bodyPr>
          <a:lstStyle/>
          <a:p>
            <a:pPr algn="l">
              <a:defRPr sz="1100" b="0">
                <a:solidFill>
                  <a:srgbClr val="6B7280"/>
                </a:solidFill>
              </a:defRPr>
            </a:pPr>
            <a:r>
              <a:t>100余人考察 · 防洪定位 · 统一认识</a:t>
            </a:r>
          </a:p>
        </p:txBody>
      </p:sp>
      <p:sp>
        <p:nvSpPr>
          <p:cNvPr id="30" name="Rectangle 29"/>
          <p:cNvSpPr/>
          <p:nvPr/>
        </p:nvSpPr>
        <p:spPr>
          <a:xfrm>
            <a:off x="1097280" y="3858768"/>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4078224"/>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200" y="4169663"/>
            <a:ext cx="548640" cy="365760"/>
          </a:xfrm>
          <a:prstGeom prst="rect">
            <a:avLst/>
          </a:prstGeom>
          <a:noFill/>
        </p:spPr>
        <p:txBody>
          <a:bodyPr wrap="square">
            <a:spAutoFit/>
          </a:bodyPr>
          <a:lstStyle/>
          <a:p>
            <a:pPr algn="ctr">
              <a:defRPr sz="1400" b="1">
                <a:solidFill>
                  <a:srgbClr val="FFFFFF"/>
                </a:solidFill>
              </a:defRPr>
            </a:pPr>
            <a:r>
              <a:t>05</a:t>
            </a:r>
          </a:p>
        </p:txBody>
      </p:sp>
      <p:sp>
        <p:nvSpPr>
          <p:cNvPr id="33" name="Rectangle 32"/>
          <p:cNvSpPr/>
          <p:nvPr/>
        </p:nvSpPr>
        <p:spPr>
          <a:xfrm>
            <a:off x="1097280" y="4078224"/>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280160" y="4123944"/>
            <a:ext cx="4572000" cy="320040"/>
          </a:xfrm>
          <a:prstGeom prst="rect">
            <a:avLst/>
          </a:prstGeom>
          <a:noFill/>
        </p:spPr>
        <p:txBody>
          <a:bodyPr wrap="square">
            <a:spAutoFit/>
          </a:bodyPr>
          <a:lstStyle/>
          <a:p>
            <a:pPr algn="l">
              <a:defRPr sz="1400" b="1">
                <a:solidFill>
                  <a:srgbClr val="1E3A5F"/>
                </a:solidFill>
              </a:defRPr>
            </a:pPr>
            <a:r>
              <a:t>利益格局与制度设计</a:t>
            </a:r>
          </a:p>
        </p:txBody>
      </p:sp>
      <p:sp>
        <p:nvSpPr>
          <p:cNvPr id="35" name="TextBox 34"/>
          <p:cNvSpPr txBox="1"/>
          <p:nvPr/>
        </p:nvSpPr>
        <p:spPr>
          <a:xfrm>
            <a:off x="1280160" y="4398264"/>
            <a:ext cx="9144000" cy="256032"/>
          </a:xfrm>
          <a:prstGeom prst="rect">
            <a:avLst/>
          </a:prstGeom>
          <a:noFill/>
        </p:spPr>
        <p:txBody>
          <a:bodyPr wrap="square">
            <a:spAutoFit/>
          </a:bodyPr>
          <a:lstStyle/>
          <a:p>
            <a:pPr algn="l">
              <a:defRPr sz="1100" b="0">
                <a:solidFill>
                  <a:srgbClr val="6B7280"/>
                </a:solidFill>
              </a:defRPr>
            </a:pPr>
            <a:r>
              <a:t>防洪优先 · 移民安置 · 生态补偿 · 区域协调</a:t>
            </a:r>
          </a:p>
        </p:txBody>
      </p:sp>
      <p:sp>
        <p:nvSpPr>
          <p:cNvPr id="36" name="Rectangle 35"/>
          <p:cNvSpPr/>
          <p:nvPr/>
        </p:nvSpPr>
        <p:spPr>
          <a:xfrm>
            <a:off x="1097280" y="4626864"/>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57200" y="4846320"/>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57200" y="4937760"/>
            <a:ext cx="548640" cy="365760"/>
          </a:xfrm>
          <a:prstGeom prst="rect">
            <a:avLst/>
          </a:prstGeom>
          <a:noFill/>
        </p:spPr>
        <p:txBody>
          <a:bodyPr wrap="square">
            <a:spAutoFit/>
          </a:bodyPr>
          <a:lstStyle/>
          <a:p>
            <a:pPr algn="ctr">
              <a:defRPr sz="1400" b="1">
                <a:solidFill>
                  <a:srgbClr val="FFFFFF"/>
                </a:solidFill>
              </a:defRPr>
            </a:pPr>
            <a:r>
              <a:t>06</a:t>
            </a:r>
          </a:p>
        </p:txBody>
      </p:sp>
      <p:sp>
        <p:nvSpPr>
          <p:cNvPr id="39" name="Rectangle 38"/>
          <p:cNvSpPr/>
          <p:nvPr/>
        </p:nvSpPr>
        <p:spPr>
          <a:xfrm>
            <a:off x="1097280" y="4846320"/>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80160" y="4892040"/>
            <a:ext cx="4572000" cy="320040"/>
          </a:xfrm>
          <a:prstGeom prst="rect">
            <a:avLst/>
          </a:prstGeom>
          <a:noFill/>
        </p:spPr>
        <p:txBody>
          <a:bodyPr wrap="square">
            <a:spAutoFit/>
          </a:bodyPr>
          <a:lstStyle/>
          <a:p>
            <a:pPr algn="l">
              <a:defRPr sz="1400" b="1">
                <a:solidFill>
                  <a:srgbClr val="1E3A5F"/>
                </a:solidFill>
              </a:defRPr>
            </a:pPr>
            <a:r>
              <a:t>决策成效的历史检验</a:t>
            </a:r>
          </a:p>
        </p:txBody>
      </p:sp>
      <p:sp>
        <p:nvSpPr>
          <p:cNvPr id="41" name="TextBox 40"/>
          <p:cNvSpPr txBox="1"/>
          <p:nvPr/>
        </p:nvSpPr>
        <p:spPr>
          <a:xfrm>
            <a:off x="1280160" y="5166360"/>
            <a:ext cx="9144000" cy="256032"/>
          </a:xfrm>
          <a:prstGeom prst="rect">
            <a:avLst/>
          </a:prstGeom>
          <a:noFill/>
        </p:spPr>
        <p:txBody>
          <a:bodyPr wrap="square">
            <a:spAutoFit/>
          </a:bodyPr>
          <a:lstStyle/>
          <a:p>
            <a:pPr algn="l">
              <a:defRPr sz="1100" b="0">
                <a:solidFill>
                  <a:srgbClr val="6B7280"/>
                </a:solidFill>
              </a:defRPr>
            </a:pPr>
            <a:r>
              <a:t>防洪效益 · 发电效益 · 航运效益 · 水资源战略</a:t>
            </a:r>
          </a:p>
        </p:txBody>
      </p:sp>
      <p:sp>
        <p:nvSpPr>
          <p:cNvPr id="42" name="Rectangle 41"/>
          <p:cNvSpPr/>
          <p:nvPr/>
        </p:nvSpPr>
        <p:spPr>
          <a:xfrm>
            <a:off x="1097280" y="5394960"/>
            <a:ext cx="1060704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5614416"/>
            <a:ext cx="548640" cy="5486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57200" y="5705856"/>
            <a:ext cx="548640" cy="365760"/>
          </a:xfrm>
          <a:prstGeom prst="rect">
            <a:avLst/>
          </a:prstGeom>
          <a:noFill/>
        </p:spPr>
        <p:txBody>
          <a:bodyPr wrap="square">
            <a:spAutoFit/>
          </a:bodyPr>
          <a:lstStyle/>
          <a:p>
            <a:pPr algn="ctr">
              <a:defRPr sz="1400" b="1">
                <a:solidFill>
                  <a:srgbClr val="FFFFFF"/>
                </a:solidFill>
              </a:defRPr>
            </a:pPr>
            <a:r>
              <a:t>07</a:t>
            </a:r>
          </a:p>
        </p:txBody>
      </p:sp>
      <p:sp>
        <p:nvSpPr>
          <p:cNvPr id="45" name="Rectangle 44"/>
          <p:cNvSpPr/>
          <p:nvPr/>
        </p:nvSpPr>
        <p:spPr>
          <a:xfrm>
            <a:off x="1097280" y="5614416"/>
            <a:ext cx="10607040" cy="54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280160" y="5660136"/>
            <a:ext cx="4572000" cy="320040"/>
          </a:xfrm>
          <a:prstGeom prst="rect">
            <a:avLst/>
          </a:prstGeom>
          <a:noFill/>
        </p:spPr>
        <p:txBody>
          <a:bodyPr wrap="square">
            <a:spAutoFit/>
          </a:bodyPr>
          <a:lstStyle/>
          <a:p>
            <a:pPr algn="l">
              <a:defRPr sz="1400" b="1">
                <a:solidFill>
                  <a:srgbClr val="1E3A5F"/>
                </a:solidFill>
              </a:defRPr>
            </a:pPr>
            <a:r>
              <a:t>经验启示与理论价值</a:t>
            </a:r>
          </a:p>
        </p:txBody>
      </p:sp>
      <p:sp>
        <p:nvSpPr>
          <p:cNvPr id="47" name="TextBox 46"/>
          <p:cNvSpPr txBox="1"/>
          <p:nvPr/>
        </p:nvSpPr>
        <p:spPr>
          <a:xfrm>
            <a:off x="1280160" y="5934456"/>
            <a:ext cx="9144000" cy="256032"/>
          </a:xfrm>
          <a:prstGeom prst="rect">
            <a:avLst/>
          </a:prstGeom>
          <a:noFill/>
        </p:spPr>
        <p:txBody>
          <a:bodyPr wrap="square">
            <a:spAutoFit/>
          </a:bodyPr>
          <a:lstStyle/>
          <a:p>
            <a:pPr algn="l">
              <a:defRPr sz="1100" b="0">
                <a:solidFill>
                  <a:srgbClr val="6B7280"/>
                </a:solidFill>
              </a:defRPr>
            </a:pPr>
            <a:r>
              <a:t>共识构建 · 差异整合 · 长周期决策模式</a:t>
            </a:r>
          </a:p>
        </p:txBody>
      </p:sp>
      <p:sp>
        <p:nvSpPr>
          <p:cNvPr id="48" name="TextBox 47"/>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07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01  案例背景与研究价值</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3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14400"/>
            <a:ext cx="54864" cy="53035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5120640" cy="365760"/>
          </a:xfrm>
          <a:prstGeom prst="rect">
            <a:avLst/>
          </a:prstGeom>
          <a:noFill/>
        </p:spPr>
        <p:txBody>
          <a:bodyPr wrap="square">
            <a:spAutoFit/>
          </a:bodyPr>
          <a:lstStyle/>
          <a:p>
            <a:pPr algn="l">
              <a:defRPr sz="1500" b="1">
                <a:solidFill>
                  <a:srgbClr val="1E3A5F"/>
                </a:solidFill>
              </a:defRPr>
            </a:pPr>
            <a:r>
              <a:t>工程概况</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54480"/>
            <a:ext cx="5120640" cy="1371600"/>
          </a:xfrm>
          <a:prstGeom prst="rect">
            <a:avLst/>
          </a:prstGeom>
          <a:noFill/>
        </p:spPr>
        <p:txBody>
          <a:bodyPr wrap="square">
            <a:spAutoFit/>
          </a:bodyPr>
          <a:lstStyle/>
          <a:p>
            <a:pPr algn="l">
              <a:defRPr sz="1100" b="0">
                <a:solidFill>
                  <a:srgbClr val="1A1A1A"/>
                </a:solidFill>
              </a:defRPr>
            </a:pPr>
            <a:r>
              <a:t>三峡工程是世界上规模最大的水利枢纽工程。坝高185米，正常蓄水位175米，总库容393亿立方米，防洪库容221.5亿立方米。水电站装机容量2250万千瓦，安装32台70万千瓦水轮发电机组，年发电量约1000亿度，是世界最大的清洁能源生产基地。</a:t>
            </a:r>
          </a:p>
        </p:txBody>
      </p:sp>
      <p:sp>
        <p:nvSpPr>
          <p:cNvPr id="12" name="TextBox 11"/>
          <p:cNvSpPr txBox="1"/>
          <p:nvPr/>
        </p:nvSpPr>
        <p:spPr>
          <a:xfrm>
            <a:off x="548640" y="2926080"/>
            <a:ext cx="5120640" cy="1371600"/>
          </a:xfrm>
          <a:prstGeom prst="rect">
            <a:avLst/>
          </a:prstGeom>
          <a:noFill/>
        </p:spPr>
        <p:txBody>
          <a:bodyPr wrap="square">
            <a:spAutoFit/>
          </a:bodyPr>
          <a:lstStyle/>
          <a:p>
            <a:pPr algn="l">
              <a:defRPr sz="1100" b="0">
                <a:solidFill>
                  <a:srgbClr val="1A1A1A"/>
                </a:solidFill>
              </a:defRPr>
            </a:pPr>
            <a:r>
              <a:t>工程涉及湖北省、重庆市共19个区县，淹没陆地面积632平方公里，需搬迁安置移民129.64万人，其中农村移民约34万人，城镇移民约95万人。动态总投资超过2000亿元人民币，建设工期17年（1994—2011年）。</a:t>
            </a:r>
          </a:p>
        </p:txBody>
      </p:sp>
      <p:sp>
        <p:nvSpPr>
          <p:cNvPr id="13" name="TextBox 12"/>
          <p:cNvSpPr txBox="1"/>
          <p:nvPr/>
        </p:nvSpPr>
        <p:spPr>
          <a:xfrm>
            <a:off x="548640" y="4206240"/>
            <a:ext cx="2286000" cy="274320"/>
          </a:xfrm>
          <a:prstGeom prst="rect">
            <a:avLst/>
          </a:prstGeom>
          <a:noFill/>
        </p:spPr>
        <p:txBody>
          <a:bodyPr wrap="square">
            <a:spAutoFit/>
          </a:bodyPr>
          <a:lstStyle/>
          <a:p>
            <a:pPr algn="l">
              <a:defRPr sz="1000" b="0">
                <a:solidFill>
                  <a:srgbClr val="6B7280"/>
                </a:solidFill>
              </a:defRPr>
            </a:pPr>
            <a:r>
              <a:t>决策跨度</a:t>
            </a:r>
          </a:p>
        </p:txBody>
      </p:sp>
      <p:sp>
        <p:nvSpPr>
          <p:cNvPr id="14" name="TextBox 13"/>
          <p:cNvSpPr txBox="1"/>
          <p:nvPr/>
        </p:nvSpPr>
        <p:spPr>
          <a:xfrm>
            <a:off x="548640" y="4434840"/>
            <a:ext cx="2286000" cy="548640"/>
          </a:xfrm>
          <a:prstGeom prst="rect">
            <a:avLst/>
          </a:prstGeom>
          <a:noFill/>
        </p:spPr>
        <p:txBody>
          <a:bodyPr wrap="square">
            <a:spAutoFit/>
          </a:bodyPr>
          <a:lstStyle/>
          <a:p>
            <a:pPr algn="l">
              <a:defRPr sz="2600" b="1">
                <a:solidFill>
                  <a:srgbClr val="D4583A"/>
                </a:solidFill>
              </a:defRPr>
            </a:pPr>
            <a:r>
              <a:t>74年</a:t>
            </a:r>
          </a:p>
        </p:txBody>
      </p:sp>
      <p:sp>
        <p:nvSpPr>
          <p:cNvPr id="15" name="TextBox 14"/>
          <p:cNvSpPr txBox="1"/>
          <p:nvPr/>
        </p:nvSpPr>
        <p:spPr>
          <a:xfrm>
            <a:off x="548640" y="4937760"/>
            <a:ext cx="2286000" cy="274320"/>
          </a:xfrm>
          <a:prstGeom prst="rect">
            <a:avLst/>
          </a:prstGeom>
          <a:noFill/>
        </p:spPr>
        <p:txBody>
          <a:bodyPr wrap="square">
            <a:spAutoFit/>
          </a:bodyPr>
          <a:lstStyle/>
          <a:p>
            <a:pPr algn="l">
              <a:defRPr sz="900" b="0">
                <a:solidFill>
                  <a:srgbClr val="6B7280"/>
                </a:solidFill>
              </a:defRPr>
            </a:pPr>
            <a:r>
              <a:t>（1918—2006）</a:t>
            </a:r>
          </a:p>
        </p:txBody>
      </p:sp>
      <p:sp>
        <p:nvSpPr>
          <p:cNvPr id="16" name="TextBox 15"/>
          <p:cNvSpPr txBox="1"/>
          <p:nvPr/>
        </p:nvSpPr>
        <p:spPr>
          <a:xfrm>
            <a:off x="2926080" y="4206240"/>
            <a:ext cx="2560320" cy="274320"/>
          </a:xfrm>
          <a:prstGeom prst="rect">
            <a:avLst/>
          </a:prstGeom>
          <a:noFill/>
        </p:spPr>
        <p:txBody>
          <a:bodyPr wrap="square">
            <a:spAutoFit/>
          </a:bodyPr>
          <a:lstStyle/>
          <a:p>
            <a:pPr algn="l">
              <a:defRPr sz="1000" b="0">
                <a:solidFill>
                  <a:srgbClr val="6B7280"/>
                </a:solidFill>
              </a:defRPr>
            </a:pPr>
            <a:r>
              <a:t>移民人口</a:t>
            </a:r>
          </a:p>
        </p:txBody>
      </p:sp>
      <p:sp>
        <p:nvSpPr>
          <p:cNvPr id="17" name="TextBox 16"/>
          <p:cNvSpPr txBox="1"/>
          <p:nvPr/>
        </p:nvSpPr>
        <p:spPr>
          <a:xfrm>
            <a:off x="2926080" y="4434840"/>
            <a:ext cx="2560320" cy="548640"/>
          </a:xfrm>
          <a:prstGeom prst="rect">
            <a:avLst/>
          </a:prstGeom>
          <a:noFill/>
        </p:spPr>
        <p:txBody>
          <a:bodyPr wrap="square">
            <a:spAutoFit/>
          </a:bodyPr>
          <a:lstStyle/>
          <a:p>
            <a:pPr algn="l">
              <a:defRPr sz="2400" b="1">
                <a:solidFill>
                  <a:srgbClr val="1E3A5F"/>
                </a:solidFill>
              </a:defRPr>
            </a:pPr>
            <a:r>
              <a:t>129.64万</a:t>
            </a:r>
          </a:p>
        </p:txBody>
      </p:sp>
      <p:sp>
        <p:nvSpPr>
          <p:cNvPr id="18" name="TextBox 17"/>
          <p:cNvSpPr txBox="1"/>
          <p:nvPr/>
        </p:nvSpPr>
        <p:spPr>
          <a:xfrm>
            <a:off x="2926080" y="4937760"/>
            <a:ext cx="2560320" cy="274320"/>
          </a:xfrm>
          <a:prstGeom prst="rect">
            <a:avLst/>
          </a:prstGeom>
          <a:noFill/>
        </p:spPr>
        <p:txBody>
          <a:bodyPr wrap="square">
            <a:spAutoFit/>
          </a:bodyPr>
          <a:lstStyle/>
          <a:p>
            <a:pPr algn="l">
              <a:defRPr sz="900" b="0">
                <a:solidFill>
                  <a:srgbClr val="6B7280"/>
                </a:solidFill>
              </a:defRPr>
            </a:pPr>
            <a:r>
              <a:t>涉及19个区县</a:t>
            </a:r>
          </a:p>
        </p:txBody>
      </p:sp>
      <p:sp>
        <p:nvSpPr>
          <p:cNvPr id="19" name="Rectangle 18"/>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051560"/>
            <a:ext cx="5303520" cy="365760"/>
          </a:xfrm>
          <a:prstGeom prst="rect">
            <a:avLst/>
          </a:prstGeom>
          <a:noFill/>
        </p:spPr>
        <p:txBody>
          <a:bodyPr wrap="square">
            <a:spAutoFit/>
          </a:bodyPr>
          <a:lstStyle/>
          <a:p>
            <a:pPr algn="l">
              <a:defRPr sz="1500" b="1">
                <a:solidFill>
                  <a:srgbClr val="1E3A5F"/>
                </a:solidFill>
              </a:defRPr>
            </a:pPr>
            <a:r>
              <a:t>研究价值</a:t>
            </a:r>
          </a:p>
        </p:txBody>
      </p:sp>
      <p:sp>
        <p:nvSpPr>
          <p:cNvPr id="22" name="Rectangle 21"/>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09360" y="157276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1600200"/>
            <a:ext cx="274320" cy="228600"/>
          </a:xfrm>
          <a:prstGeom prst="rect">
            <a:avLst/>
          </a:prstGeom>
          <a:noFill/>
        </p:spPr>
        <p:txBody>
          <a:bodyPr wrap="square">
            <a:spAutoFit/>
          </a:bodyPr>
          <a:lstStyle/>
          <a:p>
            <a:pPr algn="ctr">
              <a:defRPr sz="1100" b="1">
                <a:solidFill>
                  <a:srgbClr val="FFFFFF"/>
                </a:solidFill>
              </a:defRPr>
            </a:pPr>
            <a:r>
              <a:t>1</a:t>
            </a:r>
          </a:p>
        </p:txBody>
      </p:sp>
      <p:sp>
        <p:nvSpPr>
          <p:cNvPr id="25" name="TextBox 24"/>
          <p:cNvSpPr txBox="1"/>
          <p:nvPr/>
        </p:nvSpPr>
        <p:spPr>
          <a:xfrm>
            <a:off x="6720840" y="1572768"/>
            <a:ext cx="4846320" cy="320040"/>
          </a:xfrm>
          <a:prstGeom prst="rect">
            <a:avLst/>
          </a:prstGeom>
          <a:noFill/>
        </p:spPr>
        <p:txBody>
          <a:bodyPr wrap="square">
            <a:spAutoFit/>
          </a:bodyPr>
          <a:lstStyle/>
          <a:p>
            <a:pPr algn="l">
              <a:defRPr sz="1300" b="1">
                <a:solidFill>
                  <a:srgbClr val="1E3A5F"/>
                </a:solidFill>
              </a:defRPr>
            </a:pPr>
            <a:r>
              <a:t>理论价值</a:t>
            </a:r>
          </a:p>
        </p:txBody>
      </p:sp>
      <p:sp>
        <p:nvSpPr>
          <p:cNvPr id="26" name="TextBox 25"/>
          <p:cNvSpPr txBox="1"/>
          <p:nvPr/>
        </p:nvSpPr>
        <p:spPr>
          <a:xfrm>
            <a:off x="6720840" y="1892807"/>
            <a:ext cx="4846320" cy="640080"/>
          </a:xfrm>
          <a:prstGeom prst="rect">
            <a:avLst/>
          </a:prstGeom>
          <a:noFill/>
        </p:spPr>
        <p:txBody>
          <a:bodyPr wrap="square">
            <a:spAutoFit/>
          </a:bodyPr>
          <a:lstStyle/>
          <a:p>
            <a:pPr algn="l">
              <a:defRPr sz="1000" b="0">
                <a:solidFill>
                  <a:srgbClr val="1A1A1A"/>
                </a:solidFill>
              </a:defRPr>
            </a:pPr>
            <a:r>
              <a:t>为群体决策理论提供中国特色的本土案例，补充非西方语境下的决策理论素材</a:t>
            </a:r>
          </a:p>
        </p:txBody>
      </p:sp>
      <p:sp>
        <p:nvSpPr>
          <p:cNvPr id="27" name="Rectangle 26"/>
          <p:cNvSpPr/>
          <p:nvPr/>
        </p:nvSpPr>
        <p:spPr>
          <a:xfrm>
            <a:off x="6309360" y="262432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2651760"/>
            <a:ext cx="274320" cy="228600"/>
          </a:xfrm>
          <a:prstGeom prst="rect">
            <a:avLst/>
          </a:prstGeom>
          <a:noFill/>
        </p:spPr>
        <p:txBody>
          <a:bodyPr wrap="square">
            <a:spAutoFit/>
          </a:bodyPr>
          <a:lstStyle/>
          <a:p>
            <a:pPr algn="ctr">
              <a:defRPr sz="1100" b="1">
                <a:solidFill>
                  <a:srgbClr val="FFFFFF"/>
                </a:solidFill>
              </a:defRPr>
            </a:pPr>
            <a:r>
              <a:t>2</a:t>
            </a:r>
          </a:p>
        </p:txBody>
      </p:sp>
      <p:sp>
        <p:nvSpPr>
          <p:cNvPr id="29" name="TextBox 28"/>
          <p:cNvSpPr txBox="1"/>
          <p:nvPr/>
        </p:nvSpPr>
        <p:spPr>
          <a:xfrm>
            <a:off x="6720840" y="2624328"/>
            <a:ext cx="4846320" cy="320040"/>
          </a:xfrm>
          <a:prstGeom prst="rect">
            <a:avLst/>
          </a:prstGeom>
          <a:noFill/>
        </p:spPr>
        <p:txBody>
          <a:bodyPr wrap="square">
            <a:spAutoFit/>
          </a:bodyPr>
          <a:lstStyle/>
          <a:p>
            <a:pPr algn="l">
              <a:defRPr sz="1300" b="1">
                <a:solidFill>
                  <a:srgbClr val="1E3A5F"/>
                </a:solidFill>
              </a:defRPr>
            </a:pPr>
            <a:r>
              <a:t>实践价值</a:t>
            </a:r>
          </a:p>
        </p:txBody>
      </p:sp>
      <p:sp>
        <p:nvSpPr>
          <p:cNvPr id="30" name="TextBox 29"/>
          <p:cNvSpPr txBox="1"/>
          <p:nvPr/>
        </p:nvSpPr>
        <p:spPr>
          <a:xfrm>
            <a:off x="6720840" y="2944368"/>
            <a:ext cx="4846320" cy="640080"/>
          </a:xfrm>
          <a:prstGeom prst="rect">
            <a:avLst/>
          </a:prstGeom>
          <a:noFill/>
        </p:spPr>
        <p:txBody>
          <a:bodyPr wrap="square">
            <a:spAutoFit/>
          </a:bodyPr>
          <a:lstStyle/>
          <a:p>
            <a:pPr algn="l">
              <a:defRPr sz="1000" b="0">
                <a:solidFill>
                  <a:srgbClr val="1A1A1A"/>
                </a:solidFill>
              </a:defRPr>
            </a:pPr>
            <a:r>
              <a:t>为重大工程决策提供可借鉴的制度设计参考，总结"科学决策、民主决策"的操作经验</a:t>
            </a:r>
          </a:p>
        </p:txBody>
      </p:sp>
      <p:sp>
        <p:nvSpPr>
          <p:cNvPr id="31" name="Rectangle 30"/>
          <p:cNvSpPr/>
          <p:nvPr/>
        </p:nvSpPr>
        <p:spPr>
          <a:xfrm>
            <a:off x="6309360" y="3675887"/>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3703320"/>
            <a:ext cx="274320" cy="228600"/>
          </a:xfrm>
          <a:prstGeom prst="rect">
            <a:avLst/>
          </a:prstGeom>
          <a:noFill/>
        </p:spPr>
        <p:txBody>
          <a:bodyPr wrap="square">
            <a:spAutoFit/>
          </a:bodyPr>
          <a:lstStyle/>
          <a:p>
            <a:pPr algn="ctr">
              <a:defRPr sz="1100" b="1">
                <a:solidFill>
                  <a:srgbClr val="FFFFFF"/>
                </a:solidFill>
              </a:defRPr>
            </a:pPr>
            <a:r>
              <a:t>3</a:t>
            </a:r>
          </a:p>
        </p:txBody>
      </p:sp>
      <p:sp>
        <p:nvSpPr>
          <p:cNvPr id="33" name="TextBox 32"/>
          <p:cNvSpPr txBox="1"/>
          <p:nvPr/>
        </p:nvSpPr>
        <p:spPr>
          <a:xfrm>
            <a:off x="6720840" y="3675887"/>
            <a:ext cx="4846320" cy="320040"/>
          </a:xfrm>
          <a:prstGeom prst="rect">
            <a:avLst/>
          </a:prstGeom>
          <a:noFill/>
        </p:spPr>
        <p:txBody>
          <a:bodyPr wrap="square">
            <a:spAutoFit/>
          </a:bodyPr>
          <a:lstStyle/>
          <a:p>
            <a:pPr algn="l">
              <a:defRPr sz="1300" b="1">
                <a:solidFill>
                  <a:srgbClr val="1E3A5F"/>
                </a:solidFill>
              </a:defRPr>
            </a:pPr>
            <a:r>
              <a:t>历史价值</a:t>
            </a:r>
          </a:p>
        </p:txBody>
      </p:sp>
      <p:sp>
        <p:nvSpPr>
          <p:cNvPr id="34" name="TextBox 33"/>
          <p:cNvSpPr txBox="1"/>
          <p:nvPr/>
        </p:nvSpPr>
        <p:spPr>
          <a:xfrm>
            <a:off x="6720840" y="3995927"/>
            <a:ext cx="4846320" cy="640080"/>
          </a:xfrm>
          <a:prstGeom prst="rect">
            <a:avLst/>
          </a:prstGeom>
          <a:noFill/>
        </p:spPr>
        <p:txBody>
          <a:bodyPr wrap="square">
            <a:spAutoFit/>
          </a:bodyPr>
          <a:lstStyle/>
          <a:p>
            <a:pPr algn="l">
              <a:defRPr sz="1000" b="0">
                <a:solidFill>
                  <a:srgbClr val="1A1A1A"/>
                </a:solidFill>
              </a:defRPr>
            </a:pPr>
            <a:r>
              <a:t>记录改革开放后中国重大决策机制的演变过程，呈现"专家论证"到"人大审议"的制度化路径</a:t>
            </a:r>
          </a:p>
        </p:txBody>
      </p:sp>
      <p:sp>
        <p:nvSpPr>
          <p:cNvPr id="35" name="Rectangle 34"/>
          <p:cNvSpPr/>
          <p:nvPr/>
        </p:nvSpPr>
        <p:spPr>
          <a:xfrm>
            <a:off x="6309360" y="4727448"/>
            <a:ext cx="274320" cy="2743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754880"/>
            <a:ext cx="274320" cy="228600"/>
          </a:xfrm>
          <a:prstGeom prst="rect">
            <a:avLst/>
          </a:prstGeom>
          <a:noFill/>
        </p:spPr>
        <p:txBody>
          <a:bodyPr wrap="square">
            <a:spAutoFit/>
          </a:bodyPr>
          <a:lstStyle/>
          <a:p>
            <a:pPr algn="ctr">
              <a:defRPr sz="1100" b="1">
                <a:solidFill>
                  <a:srgbClr val="FFFFFF"/>
                </a:solidFill>
              </a:defRPr>
            </a:pPr>
            <a:r>
              <a:t>4</a:t>
            </a:r>
          </a:p>
        </p:txBody>
      </p:sp>
      <p:sp>
        <p:nvSpPr>
          <p:cNvPr id="37" name="TextBox 36"/>
          <p:cNvSpPr txBox="1"/>
          <p:nvPr/>
        </p:nvSpPr>
        <p:spPr>
          <a:xfrm>
            <a:off x="6720840" y="4727448"/>
            <a:ext cx="4846320" cy="320040"/>
          </a:xfrm>
          <a:prstGeom prst="rect">
            <a:avLst/>
          </a:prstGeom>
          <a:noFill/>
        </p:spPr>
        <p:txBody>
          <a:bodyPr wrap="square">
            <a:spAutoFit/>
          </a:bodyPr>
          <a:lstStyle/>
          <a:p>
            <a:pPr algn="l">
              <a:defRPr sz="1300" b="1">
                <a:solidFill>
                  <a:srgbClr val="1E3A5F"/>
                </a:solidFill>
              </a:defRPr>
            </a:pPr>
            <a:r>
              <a:t>比较价值</a:t>
            </a:r>
          </a:p>
        </p:txBody>
      </p:sp>
      <p:sp>
        <p:nvSpPr>
          <p:cNvPr id="38" name="TextBox 37"/>
          <p:cNvSpPr txBox="1"/>
          <p:nvPr/>
        </p:nvSpPr>
        <p:spPr>
          <a:xfrm>
            <a:off x="6720840" y="5047488"/>
            <a:ext cx="4846320" cy="640080"/>
          </a:xfrm>
          <a:prstGeom prst="rect">
            <a:avLst/>
          </a:prstGeom>
          <a:noFill/>
        </p:spPr>
        <p:txBody>
          <a:bodyPr wrap="square">
            <a:spAutoFit/>
          </a:bodyPr>
          <a:lstStyle/>
          <a:p>
            <a:pPr algn="l">
              <a:defRPr sz="1000" b="0">
                <a:solidFill>
                  <a:srgbClr val="1A1A1A"/>
                </a:solidFill>
              </a:defRPr>
            </a:pPr>
            <a:r>
              <a:t>与美国胡佛大坝、埃及阿斯旺大坝等国际案例对照，凸显中国制度特色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01  关键数据一览</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4 / 20</a:t>
            </a:r>
          </a:p>
        </p:txBody>
      </p:sp>
      <p:sp>
        <p:nvSpPr>
          <p:cNvPr id="7" name="TextBox 6"/>
          <p:cNvSpPr txBox="1"/>
          <p:nvPr/>
        </p:nvSpPr>
        <p:spPr>
          <a:xfrm>
            <a:off x="457200" y="960120"/>
            <a:ext cx="11274552" cy="320040"/>
          </a:xfrm>
          <a:prstGeom prst="rect">
            <a:avLst/>
          </a:prstGeom>
          <a:noFill/>
        </p:spPr>
        <p:txBody>
          <a:bodyPr wrap="square">
            <a:spAutoFit/>
          </a:bodyPr>
          <a:lstStyle/>
          <a:p>
            <a:pPr algn="ctr">
              <a:defRPr sz="1300" b="0">
                <a:solidFill>
                  <a:srgbClr val="6B7280"/>
                </a:solidFill>
              </a:defRPr>
            </a:pPr>
            <a:r>
              <a:t>三峡工程核心指标</a:t>
            </a:r>
          </a:p>
        </p:txBody>
      </p:sp>
      <p:sp>
        <p:nvSpPr>
          <p:cNvPr id="8" name="Rectangle 7"/>
          <p:cNvSpPr/>
          <p:nvPr/>
        </p:nvSpPr>
        <p:spPr>
          <a:xfrm>
            <a:off x="365760" y="132588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760" y="1325880"/>
            <a:ext cx="54864" cy="23774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435607"/>
            <a:ext cx="5212080" cy="365760"/>
          </a:xfrm>
          <a:prstGeom prst="rect">
            <a:avLst/>
          </a:prstGeom>
          <a:noFill/>
        </p:spPr>
        <p:txBody>
          <a:bodyPr wrap="square">
            <a:spAutoFit/>
          </a:bodyPr>
          <a:lstStyle/>
          <a:p>
            <a:pPr algn="l">
              <a:defRPr sz="1500" b="1">
                <a:solidFill>
                  <a:srgbClr val="1E3A5F"/>
                </a:solidFill>
              </a:defRPr>
            </a:pPr>
            <a:r>
              <a:t>工程规模</a:t>
            </a:r>
          </a:p>
        </p:txBody>
      </p:sp>
      <p:sp>
        <p:nvSpPr>
          <p:cNvPr id="11" name="Rectangle 10"/>
          <p:cNvSpPr/>
          <p:nvPr/>
        </p:nvSpPr>
        <p:spPr>
          <a:xfrm>
            <a:off x="548640" y="180136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892807"/>
            <a:ext cx="2286000" cy="365760"/>
          </a:xfrm>
          <a:prstGeom prst="rect">
            <a:avLst/>
          </a:prstGeom>
          <a:noFill/>
        </p:spPr>
        <p:txBody>
          <a:bodyPr wrap="square">
            <a:spAutoFit/>
          </a:bodyPr>
          <a:lstStyle/>
          <a:p>
            <a:pPr algn="l">
              <a:defRPr sz="1100" b="0">
                <a:solidFill>
                  <a:srgbClr val="6B7280"/>
                </a:solidFill>
              </a:defRPr>
            </a:pPr>
            <a:r>
              <a:t>坝高</a:t>
            </a:r>
          </a:p>
        </p:txBody>
      </p:sp>
      <p:sp>
        <p:nvSpPr>
          <p:cNvPr id="13" name="TextBox 12"/>
          <p:cNvSpPr txBox="1"/>
          <p:nvPr/>
        </p:nvSpPr>
        <p:spPr>
          <a:xfrm>
            <a:off x="3108960" y="1892807"/>
            <a:ext cx="2560320" cy="365760"/>
          </a:xfrm>
          <a:prstGeom prst="rect">
            <a:avLst/>
          </a:prstGeom>
          <a:noFill/>
        </p:spPr>
        <p:txBody>
          <a:bodyPr wrap="square">
            <a:spAutoFit/>
          </a:bodyPr>
          <a:lstStyle/>
          <a:p>
            <a:pPr algn="l">
              <a:defRPr sz="1300" b="1">
                <a:solidFill>
                  <a:srgbClr val="1A1A1A"/>
                </a:solidFill>
              </a:defRPr>
            </a:pPr>
            <a:r>
              <a:t>185米</a:t>
            </a:r>
          </a:p>
        </p:txBody>
      </p:sp>
      <p:sp>
        <p:nvSpPr>
          <p:cNvPr id="14" name="TextBox 13"/>
          <p:cNvSpPr txBox="1"/>
          <p:nvPr/>
        </p:nvSpPr>
        <p:spPr>
          <a:xfrm>
            <a:off x="640080" y="2313432"/>
            <a:ext cx="2286000" cy="365760"/>
          </a:xfrm>
          <a:prstGeom prst="rect">
            <a:avLst/>
          </a:prstGeom>
          <a:noFill/>
        </p:spPr>
        <p:txBody>
          <a:bodyPr wrap="square">
            <a:spAutoFit/>
          </a:bodyPr>
          <a:lstStyle/>
          <a:p>
            <a:pPr algn="l">
              <a:defRPr sz="1100" b="0">
                <a:solidFill>
                  <a:srgbClr val="6B7280"/>
                </a:solidFill>
              </a:defRPr>
            </a:pPr>
            <a:r>
              <a:t>蓄水位</a:t>
            </a:r>
          </a:p>
        </p:txBody>
      </p:sp>
      <p:sp>
        <p:nvSpPr>
          <p:cNvPr id="15" name="TextBox 14"/>
          <p:cNvSpPr txBox="1"/>
          <p:nvPr/>
        </p:nvSpPr>
        <p:spPr>
          <a:xfrm>
            <a:off x="3108960" y="2313432"/>
            <a:ext cx="2560320" cy="365760"/>
          </a:xfrm>
          <a:prstGeom prst="rect">
            <a:avLst/>
          </a:prstGeom>
          <a:noFill/>
        </p:spPr>
        <p:txBody>
          <a:bodyPr wrap="square">
            <a:spAutoFit/>
          </a:bodyPr>
          <a:lstStyle/>
          <a:p>
            <a:pPr algn="l">
              <a:defRPr sz="1300" b="1">
                <a:solidFill>
                  <a:srgbClr val="1A1A1A"/>
                </a:solidFill>
              </a:defRPr>
            </a:pPr>
            <a:r>
              <a:t>175米</a:t>
            </a:r>
          </a:p>
        </p:txBody>
      </p:sp>
      <p:sp>
        <p:nvSpPr>
          <p:cNvPr id="16" name="TextBox 15"/>
          <p:cNvSpPr txBox="1"/>
          <p:nvPr/>
        </p:nvSpPr>
        <p:spPr>
          <a:xfrm>
            <a:off x="640080" y="2734056"/>
            <a:ext cx="2286000" cy="365760"/>
          </a:xfrm>
          <a:prstGeom prst="rect">
            <a:avLst/>
          </a:prstGeom>
          <a:noFill/>
        </p:spPr>
        <p:txBody>
          <a:bodyPr wrap="square">
            <a:spAutoFit/>
          </a:bodyPr>
          <a:lstStyle/>
          <a:p>
            <a:pPr algn="l">
              <a:defRPr sz="1100" b="0">
                <a:solidFill>
                  <a:srgbClr val="6B7280"/>
                </a:solidFill>
              </a:defRPr>
            </a:pPr>
            <a:r>
              <a:t>总库容</a:t>
            </a:r>
          </a:p>
        </p:txBody>
      </p:sp>
      <p:sp>
        <p:nvSpPr>
          <p:cNvPr id="17" name="TextBox 16"/>
          <p:cNvSpPr txBox="1"/>
          <p:nvPr/>
        </p:nvSpPr>
        <p:spPr>
          <a:xfrm>
            <a:off x="3108960" y="2734056"/>
            <a:ext cx="2560320" cy="365760"/>
          </a:xfrm>
          <a:prstGeom prst="rect">
            <a:avLst/>
          </a:prstGeom>
          <a:noFill/>
        </p:spPr>
        <p:txBody>
          <a:bodyPr wrap="square">
            <a:spAutoFit/>
          </a:bodyPr>
          <a:lstStyle/>
          <a:p>
            <a:pPr algn="l">
              <a:defRPr sz="1300" b="1">
                <a:solidFill>
                  <a:srgbClr val="1A1A1A"/>
                </a:solidFill>
              </a:defRPr>
            </a:pPr>
            <a:r>
              <a:t>393亿m³</a:t>
            </a:r>
          </a:p>
        </p:txBody>
      </p:sp>
      <p:sp>
        <p:nvSpPr>
          <p:cNvPr id="18" name="TextBox 17"/>
          <p:cNvSpPr txBox="1"/>
          <p:nvPr/>
        </p:nvSpPr>
        <p:spPr>
          <a:xfrm>
            <a:off x="640080" y="3154680"/>
            <a:ext cx="2286000" cy="365760"/>
          </a:xfrm>
          <a:prstGeom prst="rect">
            <a:avLst/>
          </a:prstGeom>
          <a:noFill/>
        </p:spPr>
        <p:txBody>
          <a:bodyPr wrap="square">
            <a:spAutoFit/>
          </a:bodyPr>
          <a:lstStyle/>
          <a:p>
            <a:pPr algn="l">
              <a:defRPr sz="1100" b="0">
                <a:solidFill>
                  <a:srgbClr val="6B7280"/>
                </a:solidFill>
              </a:defRPr>
            </a:pPr>
            <a:r>
              <a:t>防洪库容</a:t>
            </a:r>
          </a:p>
        </p:txBody>
      </p:sp>
      <p:sp>
        <p:nvSpPr>
          <p:cNvPr id="19" name="TextBox 18"/>
          <p:cNvSpPr txBox="1"/>
          <p:nvPr/>
        </p:nvSpPr>
        <p:spPr>
          <a:xfrm>
            <a:off x="3108960" y="3154680"/>
            <a:ext cx="2560320" cy="365760"/>
          </a:xfrm>
          <a:prstGeom prst="rect">
            <a:avLst/>
          </a:prstGeom>
          <a:noFill/>
        </p:spPr>
        <p:txBody>
          <a:bodyPr wrap="square">
            <a:spAutoFit/>
          </a:bodyPr>
          <a:lstStyle/>
          <a:p>
            <a:pPr algn="l">
              <a:defRPr sz="1300" b="1">
                <a:solidFill>
                  <a:srgbClr val="1A1A1A"/>
                </a:solidFill>
              </a:defRPr>
            </a:pPr>
            <a:r>
              <a:t>221.5亿m³</a:t>
            </a:r>
          </a:p>
        </p:txBody>
      </p:sp>
      <p:sp>
        <p:nvSpPr>
          <p:cNvPr id="20" name="Rectangle 19"/>
          <p:cNvSpPr/>
          <p:nvPr/>
        </p:nvSpPr>
        <p:spPr>
          <a:xfrm>
            <a:off x="6309360" y="132588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09360" y="1325880"/>
            <a:ext cx="54864" cy="237744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1435607"/>
            <a:ext cx="5212080" cy="365760"/>
          </a:xfrm>
          <a:prstGeom prst="rect">
            <a:avLst/>
          </a:prstGeom>
          <a:noFill/>
        </p:spPr>
        <p:txBody>
          <a:bodyPr wrap="square">
            <a:spAutoFit/>
          </a:bodyPr>
          <a:lstStyle/>
          <a:p>
            <a:pPr algn="l">
              <a:defRPr sz="1500" b="1">
                <a:solidFill>
                  <a:srgbClr val="2D5A8E"/>
                </a:solidFill>
              </a:defRPr>
            </a:pPr>
            <a:r>
              <a:t>发电能力</a:t>
            </a:r>
          </a:p>
        </p:txBody>
      </p:sp>
      <p:sp>
        <p:nvSpPr>
          <p:cNvPr id="23" name="Rectangle 22"/>
          <p:cNvSpPr/>
          <p:nvPr/>
        </p:nvSpPr>
        <p:spPr>
          <a:xfrm>
            <a:off x="6492240" y="180136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892807"/>
            <a:ext cx="2286000" cy="365760"/>
          </a:xfrm>
          <a:prstGeom prst="rect">
            <a:avLst/>
          </a:prstGeom>
          <a:noFill/>
        </p:spPr>
        <p:txBody>
          <a:bodyPr wrap="square">
            <a:spAutoFit/>
          </a:bodyPr>
          <a:lstStyle/>
          <a:p>
            <a:pPr algn="l">
              <a:defRPr sz="1100" b="0">
                <a:solidFill>
                  <a:srgbClr val="6B7280"/>
                </a:solidFill>
              </a:defRPr>
            </a:pPr>
            <a:r>
              <a:t>装机容量</a:t>
            </a:r>
          </a:p>
        </p:txBody>
      </p:sp>
      <p:sp>
        <p:nvSpPr>
          <p:cNvPr id="25" name="TextBox 24"/>
          <p:cNvSpPr txBox="1"/>
          <p:nvPr/>
        </p:nvSpPr>
        <p:spPr>
          <a:xfrm>
            <a:off x="9052560" y="1892807"/>
            <a:ext cx="2560320" cy="365760"/>
          </a:xfrm>
          <a:prstGeom prst="rect">
            <a:avLst/>
          </a:prstGeom>
          <a:noFill/>
        </p:spPr>
        <p:txBody>
          <a:bodyPr wrap="square">
            <a:spAutoFit/>
          </a:bodyPr>
          <a:lstStyle/>
          <a:p>
            <a:pPr algn="l">
              <a:defRPr sz="1300" b="1">
                <a:solidFill>
                  <a:srgbClr val="1A1A1A"/>
                </a:solidFill>
              </a:defRPr>
            </a:pPr>
            <a:r>
              <a:t>2250万kW</a:t>
            </a:r>
          </a:p>
        </p:txBody>
      </p:sp>
      <p:sp>
        <p:nvSpPr>
          <p:cNvPr id="26" name="TextBox 25"/>
          <p:cNvSpPr txBox="1"/>
          <p:nvPr/>
        </p:nvSpPr>
        <p:spPr>
          <a:xfrm>
            <a:off x="6583680" y="2313432"/>
            <a:ext cx="2286000" cy="365760"/>
          </a:xfrm>
          <a:prstGeom prst="rect">
            <a:avLst/>
          </a:prstGeom>
          <a:noFill/>
        </p:spPr>
        <p:txBody>
          <a:bodyPr wrap="square">
            <a:spAutoFit/>
          </a:bodyPr>
          <a:lstStyle/>
          <a:p>
            <a:pPr algn="l">
              <a:defRPr sz="1100" b="0">
                <a:solidFill>
                  <a:srgbClr val="6B7280"/>
                </a:solidFill>
              </a:defRPr>
            </a:pPr>
            <a:r>
              <a:t>年发电量</a:t>
            </a:r>
          </a:p>
        </p:txBody>
      </p:sp>
      <p:sp>
        <p:nvSpPr>
          <p:cNvPr id="27" name="TextBox 26"/>
          <p:cNvSpPr txBox="1"/>
          <p:nvPr/>
        </p:nvSpPr>
        <p:spPr>
          <a:xfrm>
            <a:off x="9052560" y="2313432"/>
            <a:ext cx="2560320" cy="365760"/>
          </a:xfrm>
          <a:prstGeom prst="rect">
            <a:avLst/>
          </a:prstGeom>
          <a:noFill/>
        </p:spPr>
        <p:txBody>
          <a:bodyPr wrap="square">
            <a:spAutoFit/>
          </a:bodyPr>
          <a:lstStyle/>
          <a:p>
            <a:pPr algn="l">
              <a:defRPr sz="1300" b="1">
                <a:solidFill>
                  <a:srgbClr val="1A1A1A"/>
                </a:solidFill>
              </a:defRPr>
            </a:pPr>
            <a:r>
              <a:t>约1000亿度</a:t>
            </a:r>
          </a:p>
        </p:txBody>
      </p:sp>
      <p:sp>
        <p:nvSpPr>
          <p:cNvPr id="28" name="TextBox 27"/>
          <p:cNvSpPr txBox="1"/>
          <p:nvPr/>
        </p:nvSpPr>
        <p:spPr>
          <a:xfrm>
            <a:off x="6583680" y="2734056"/>
            <a:ext cx="2286000" cy="365760"/>
          </a:xfrm>
          <a:prstGeom prst="rect">
            <a:avLst/>
          </a:prstGeom>
          <a:noFill/>
        </p:spPr>
        <p:txBody>
          <a:bodyPr wrap="square">
            <a:spAutoFit/>
          </a:bodyPr>
          <a:lstStyle/>
          <a:p>
            <a:pPr algn="l">
              <a:defRPr sz="1100" b="0">
                <a:solidFill>
                  <a:srgbClr val="6B7280"/>
                </a:solidFill>
              </a:defRPr>
            </a:pPr>
            <a:r>
              <a:t>机组数量</a:t>
            </a:r>
          </a:p>
        </p:txBody>
      </p:sp>
      <p:sp>
        <p:nvSpPr>
          <p:cNvPr id="29" name="TextBox 28"/>
          <p:cNvSpPr txBox="1"/>
          <p:nvPr/>
        </p:nvSpPr>
        <p:spPr>
          <a:xfrm>
            <a:off x="9052560" y="2734056"/>
            <a:ext cx="2560320" cy="365760"/>
          </a:xfrm>
          <a:prstGeom prst="rect">
            <a:avLst/>
          </a:prstGeom>
          <a:noFill/>
        </p:spPr>
        <p:txBody>
          <a:bodyPr wrap="square">
            <a:spAutoFit/>
          </a:bodyPr>
          <a:lstStyle/>
          <a:p>
            <a:pPr algn="l">
              <a:defRPr sz="1300" b="1">
                <a:solidFill>
                  <a:srgbClr val="1A1A1A"/>
                </a:solidFill>
              </a:defRPr>
            </a:pPr>
            <a:r>
              <a:t>32台</a:t>
            </a:r>
          </a:p>
        </p:txBody>
      </p:sp>
      <p:sp>
        <p:nvSpPr>
          <p:cNvPr id="30" name="TextBox 29"/>
          <p:cNvSpPr txBox="1"/>
          <p:nvPr/>
        </p:nvSpPr>
        <p:spPr>
          <a:xfrm>
            <a:off x="6583680" y="3154680"/>
            <a:ext cx="2286000" cy="365760"/>
          </a:xfrm>
          <a:prstGeom prst="rect">
            <a:avLst/>
          </a:prstGeom>
          <a:noFill/>
        </p:spPr>
        <p:txBody>
          <a:bodyPr wrap="square">
            <a:spAutoFit/>
          </a:bodyPr>
          <a:lstStyle/>
          <a:p>
            <a:pPr algn="l">
              <a:defRPr sz="1100" b="0">
                <a:solidFill>
                  <a:srgbClr val="6B7280"/>
                </a:solidFill>
              </a:defRPr>
            </a:pPr>
            <a:r>
              <a:t>单机容量</a:t>
            </a:r>
          </a:p>
        </p:txBody>
      </p:sp>
      <p:sp>
        <p:nvSpPr>
          <p:cNvPr id="31" name="TextBox 30"/>
          <p:cNvSpPr txBox="1"/>
          <p:nvPr/>
        </p:nvSpPr>
        <p:spPr>
          <a:xfrm>
            <a:off x="9052560" y="3154680"/>
            <a:ext cx="2560320" cy="365760"/>
          </a:xfrm>
          <a:prstGeom prst="rect">
            <a:avLst/>
          </a:prstGeom>
          <a:noFill/>
        </p:spPr>
        <p:txBody>
          <a:bodyPr wrap="square">
            <a:spAutoFit/>
          </a:bodyPr>
          <a:lstStyle/>
          <a:p>
            <a:pPr algn="l">
              <a:defRPr sz="1300" b="1">
                <a:solidFill>
                  <a:srgbClr val="1A1A1A"/>
                </a:solidFill>
              </a:defRPr>
            </a:pPr>
            <a:r>
              <a:t>70万kW/台</a:t>
            </a:r>
          </a:p>
        </p:txBody>
      </p:sp>
      <p:sp>
        <p:nvSpPr>
          <p:cNvPr id="32" name="Rectangle 31"/>
          <p:cNvSpPr/>
          <p:nvPr/>
        </p:nvSpPr>
        <p:spPr>
          <a:xfrm>
            <a:off x="365760" y="388620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65760" y="3886200"/>
            <a:ext cx="54864" cy="237744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995928"/>
            <a:ext cx="5212080" cy="365760"/>
          </a:xfrm>
          <a:prstGeom prst="rect">
            <a:avLst/>
          </a:prstGeom>
          <a:noFill/>
        </p:spPr>
        <p:txBody>
          <a:bodyPr wrap="square">
            <a:spAutoFit/>
          </a:bodyPr>
          <a:lstStyle/>
          <a:p>
            <a:pPr algn="l">
              <a:defRPr sz="1500" b="1">
                <a:solidFill>
                  <a:srgbClr val="D4A84B"/>
                </a:solidFill>
              </a:defRPr>
            </a:pPr>
            <a:r>
              <a:t>移民安置</a:t>
            </a:r>
          </a:p>
        </p:txBody>
      </p:sp>
      <p:sp>
        <p:nvSpPr>
          <p:cNvPr id="35" name="Rectangle 34"/>
          <p:cNvSpPr/>
          <p:nvPr/>
        </p:nvSpPr>
        <p:spPr>
          <a:xfrm>
            <a:off x="548640" y="436168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080" y="4453128"/>
            <a:ext cx="2286000" cy="365760"/>
          </a:xfrm>
          <a:prstGeom prst="rect">
            <a:avLst/>
          </a:prstGeom>
          <a:noFill/>
        </p:spPr>
        <p:txBody>
          <a:bodyPr wrap="square">
            <a:spAutoFit/>
          </a:bodyPr>
          <a:lstStyle/>
          <a:p>
            <a:pPr algn="l">
              <a:defRPr sz="1100" b="0">
                <a:solidFill>
                  <a:srgbClr val="6B7280"/>
                </a:solidFill>
              </a:defRPr>
            </a:pPr>
            <a:r>
              <a:t>涉及区县</a:t>
            </a:r>
          </a:p>
        </p:txBody>
      </p:sp>
      <p:sp>
        <p:nvSpPr>
          <p:cNvPr id="37" name="TextBox 36"/>
          <p:cNvSpPr txBox="1"/>
          <p:nvPr/>
        </p:nvSpPr>
        <p:spPr>
          <a:xfrm>
            <a:off x="3108960" y="4453128"/>
            <a:ext cx="2560320" cy="365760"/>
          </a:xfrm>
          <a:prstGeom prst="rect">
            <a:avLst/>
          </a:prstGeom>
          <a:noFill/>
        </p:spPr>
        <p:txBody>
          <a:bodyPr wrap="square">
            <a:spAutoFit/>
          </a:bodyPr>
          <a:lstStyle/>
          <a:p>
            <a:pPr algn="l">
              <a:defRPr sz="1300" b="1">
                <a:solidFill>
                  <a:srgbClr val="1A1A1A"/>
                </a:solidFill>
              </a:defRPr>
            </a:pPr>
            <a:r>
              <a:t>19个</a:t>
            </a:r>
          </a:p>
        </p:txBody>
      </p:sp>
      <p:sp>
        <p:nvSpPr>
          <p:cNvPr id="38" name="TextBox 37"/>
          <p:cNvSpPr txBox="1"/>
          <p:nvPr/>
        </p:nvSpPr>
        <p:spPr>
          <a:xfrm>
            <a:off x="640080" y="4873752"/>
            <a:ext cx="2286000" cy="365760"/>
          </a:xfrm>
          <a:prstGeom prst="rect">
            <a:avLst/>
          </a:prstGeom>
          <a:noFill/>
        </p:spPr>
        <p:txBody>
          <a:bodyPr wrap="square">
            <a:spAutoFit/>
          </a:bodyPr>
          <a:lstStyle/>
          <a:p>
            <a:pPr algn="l">
              <a:defRPr sz="1100" b="0">
                <a:solidFill>
                  <a:srgbClr val="6B7280"/>
                </a:solidFill>
              </a:defRPr>
            </a:pPr>
            <a:r>
              <a:t>淹没面积</a:t>
            </a:r>
          </a:p>
        </p:txBody>
      </p:sp>
      <p:sp>
        <p:nvSpPr>
          <p:cNvPr id="39" name="TextBox 38"/>
          <p:cNvSpPr txBox="1"/>
          <p:nvPr/>
        </p:nvSpPr>
        <p:spPr>
          <a:xfrm>
            <a:off x="3108960" y="4873752"/>
            <a:ext cx="2560320" cy="365760"/>
          </a:xfrm>
          <a:prstGeom prst="rect">
            <a:avLst/>
          </a:prstGeom>
          <a:noFill/>
        </p:spPr>
        <p:txBody>
          <a:bodyPr wrap="square">
            <a:spAutoFit/>
          </a:bodyPr>
          <a:lstStyle/>
          <a:p>
            <a:pPr algn="l">
              <a:defRPr sz="1300" b="1">
                <a:solidFill>
                  <a:srgbClr val="1A1A1A"/>
                </a:solidFill>
              </a:defRPr>
            </a:pPr>
            <a:r>
              <a:t>632km²</a:t>
            </a:r>
          </a:p>
        </p:txBody>
      </p:sp>
      <p:sp>
        <p:nvSpPr>
          <p:cNvPr id="40" name="TextBox 39"/>
          <p:cNvSpPr txBox="1"/>
          <p:nvPr/>
        </p:nvSpPr>
        <p:spPr>
          <a:xfrm>
            <a:off x="640080" y="5294376"/>
            <a:ext cx="2286000" cy="365760"/>
          </a:xfrm>
          <a:prstGeom prst="rect">
            <a:avLst/>
          </a:prstGeom>
          <a:noFill/>
        </p:spPr>
        <p:txBody>
          <a:bodyPr wrap="square">
            <a:spAutoFit/>
          </a:bodyPr>
          <a:lstStyle/>
          <a:p>
            <a:pPr algn="l">
              <a:defRPr sz="1100" b="0">
                <a:solidFill>
                  <a:srgbClr val="6B7280"/>
                </a:solidFill>
              </a:defRPr>
            </a:pPr>
            <a:r>
              <a:t>移民总数</a:t>
            </a:r>
          </a:p>
        </p:txBody>
      </p:sp>
      <p:sp>
        <p:nvSpPr>
          <p:cNvPr id="41" name="TextBox 40"/>
          <p:cNvSpPr txBox="1"/>
          <p:nvPr/>
        </p:nvSpPr>
        <p:spPr>
          <a:xfrm>
            <a:off x="3108960" y="5294376"/>
            <a:ext cx="2560320" cy="365760"/>
          </a:xfrm>
          <a:prstGeom prst="rect">
            <a:avLst/>
          </a:prstGeom>
          <a:noFill/>
        </p:spPr>
        <p:txBody>
          <a:bodyPr wrap="square">
            <a:spAutoFit/>
          </a:bodyPr>
          <a:lstStyle/>
          <a:p>
            <a:pPr algn="l">
              <a:defRPr sz="1300" b="1">
                <a:solidFill>
                  <a:srgbClr val="1A1A1A"/>
                </a:solidFill>
              </a:defRPr>
            </a:pPr>
            <a:r>
              <a:t>129.64万</a:t>
            </a:r>
          </a:p>
        </p:txBody>
      </p:sp>
      <p:sp>
        <p:nvSpPr>
          <p:cNvPr id="42" name="TextBox 41"/>
          <p:cNvSpPr txBox="1"/>
          <p:nvPr/>
        </p:nvSpPr>
        <p:spPr>
          <a:xfrm>
            <a:off x="640080" y="5715000"/>
            <a:ext cx="2286000" cy="365760"/>
          </a:xfrm>
          <a:prstGeom prst="rect">
            <a:avLst/>
          </a:prstGeom>
          <a:noFill/>
        </p:spPr>
        <p:txBody>
          <a:bodyPr wrap="square">
            <a:spAutoFit/>
          </a:bodyPr>
          <a:lstStyle/>
          <a:p>
            <a:pPr algn="l">
              <a:defRPr sz="1100" b="0">
                <a:solidFill>
                  <a:srgbClr val="6B7280"/>
                </a:solidFill>
              </a:defRPr>
            </a:pPr>
            <a:r>
              <a:t>外迁省份</a:t>
            </a:r>
          </a:p>
        </p:txBody>
      </p:sp>
      <p:sp>
        <p:nvSpPr>
          <p:cNvPr id="43" name="TextBox 42"/>
          <p:cNvSpPr txBox="1"/>
          <p:nvPr/>
        </p:nvSpPr>
        <p:spPr>
          <a:xfrm>
            <a:off x="3108960" y="5715000"/>
            <a:ext cx="2560320" cy="365760"/>
          </a:xfrm>
          <a:prstGeom prst="rect">
            <a:avLst/>
          </a:prstGeom>
          <a:noFill/>
        </p:spPr>
        <p:txBody>
          <a:bodyPr wrap="square">
            <a:spAutoFit/>
          </a:bodyPr>
          <a:lstStyle/>
          <a:p>
            <a:pPr algn="l">
              <a:defRPr sz="1300" b="1">
                <a:solidFill>
                  <a:srgbClr val="1A1A1A"/>
                </a:solidFill>
              </a:defRPr>
            </a:pPr>
            <a:r>
              <a:t>11个</a:t>
            </a:r>
          </a:p>
        </p:txBody>
      </p:sp>
      <p:sp>
        <p:nvSpPr>
          <p:cNvPr id="44" name="Rectangle 43"/>
          <p:cNvSpPr/>
          <p:nvPr/>
        </p:nvSpPr>
        <p:spPr>
          <a:xfrm>
            <a:off x="6309360" y="3886200"/>
            <a:ext cx="557784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09360" y="3886200"/>
            <a:ext cx="54864" cy="237744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92240" y="3995928"/>
            <a:ext cx="5212080" cy="365760"/>
          </a:xfrm>
          <a:prstGeom prst="rect">
            <a:avLst/>
          </a:prstGeom>
          <a:noFill/>
        </p:spPr>
        <p:txBody>
          <a:bodyPr wrap="square">
            <a:spAutoFit/>
          </a:bodyPr>
          <a:lstStyle/>
          <a:p>
            <a:pPr algn="l">
              <a:defRPr sz="1500" b="1">
                <a:solidFill>
                  <a:srgbClr val="D4583A"/>
                </a:solidFill>
              </a:defRPr>
            </a:pPr>
            <a:r>
              <a:t>决策参与</a:t>
            </a:r>
          </a:p>
        </p:txBody>
      </p:sp>
      <p:sp>
        <p:nvSpPr>
          <p:cNvPr id="47" name="Rectangle 46"/>
          <p:cNvSpPr/>
          <p:nvPr/>
        </p:nvSpPr>
        <p:spPr>
          <a:xfrm>
            <a:off x="6492240" y="4361688"/>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0" y="4453128"/>
            <a:ext cx="2286000" cy="365760"/>
          </a:xfrm>
          <a:prstGeom prst="rect">
            <a:avLst/>
          </a:prstGeom>
          <a:noFill/>
        </p:spPr>
        <p:txBody>
          <a:bodyPr wrap="square">
            <a:spAutoFit/>
          </a:bodyPr>
          <a:lstStyle/>
          <a:p>
            <a:pPr algn="l">
              <a:defRPr sz="1100" b="0">
                <a:solidFill>
                  <a:srgbClr val="6B7280"/>
                </a:solidFill>
              </a:defRPr>
            </a:pPr>
            <a:r>
              <a:t>论证专家</a:t>
            </a:r>
          </a:p>
        </p:txBody>
      </p:sp>
      <p:sp>
        <p:nvSpPr>
          <p:cNvPr id="49" name="TextBox 48"/>
          <p:cNvSpPr txBox="1"/>
          <p:nvPr/>
        </p:nvSpPr>
        <p:spPr>
          <a:xfrm>
            <a:off x="9052560" y="4453128"/>
            <a:ext cx="2560320" cy="365760"/>
          </a:xfrm>
          <a:prstGeom prst="rect">
            <a:avLst/>
          </a:prstGeom>
          <a:noFill/>
        </p:spPr>
        <p:txBody>
          <a:bodyPr wrap="square">
            <a:spAutoFit/>
          </a:bodyPr>
          <a:lstStyle/>
          <a:p>
            <a:pPr algn="l">
              <a:defRPr sz="1300" b="1">
                <a:solidFill>
                  <a:srgbClr val="1A1A1A"/>
                </a:solidFill>
              </a:defRPr>
            </a:pPr>
            <a:r>
              <a:t>412位</a:t>
            </a:r>
          </a:p>
        </p:txBody>
      </p:sp>
      <p:sp>
        <p:nvSpPr>
          <p:cNvPr id="50" name="TextBox 49"/>
          <p:cNvSpPr txBox="1"/>
          <p:nvPr/>
        </p:nvSpPr>
        <p:spPr>
          <a:xfrm>
            <a:off x="6583680" y="4873752"/>
            <a:ext cx="2286000" cy="365760"/>
          </a:xfrm>
          <a:prstGeom prst="rect">
            <a:avLst/>
          </a:prstGeom>
          <a:noFill/>
        </p:spPr>
        <p:txBody>
          <a:bodyPr wrap="square">
            <a:spAutoFit/>
          </a:bodyPr>
          <a:lstStyle/>
          <a:p>
            <a:pPr algn="l">
              <a:defRPr sz="1100" b="0">
                <a:solidFill>
                  <a:srgbClr val="6B7280"/>
                </a:solidFill>
              </a:defRPr>
            </a:pPr>
            <a:r>
              <a:t>参与单位</a:t>
            </a:r>
          </a:p>
        </p:txBody>
      </p:sp>
      <p:sp>
        <p:nvSpPr>
          <p:cNvPr id="51" name="TextBox 50"/>
          <p:cNvSpPr txBox="1"/>
          <p:nvPr/>
        </p:nvSpPr>
        <p:spPr>
          <a:xfrm>
            <a:off x="9052560" y="4873752"/>
            <a:ext cx="2560320" cy="365760"/>
          </a:xfrm>
          <a:prstGeom prst="rect">
            <a:avLst/>
          </a:prstGeom>
          <a:noFill/>
        </p:spPr>
        <p:txBody>
          <a:bodyPr wrap="square">
            <a:spAutoFit/>
          </a:bodyPr>
          <a:lstStyle/>
          <a:p>
            <a:pPr algn="l">
              <a:defRPr sz="1300" b="1">
                <a:solidFill>
                  <a:srgbClr val="1A1A1A"/>
                </a:solidFill>
              </a:defRPr>
            </a:pPr>
            <a:r>
              <a:t>65个</a:t>
            </a:r>
          </a:p>
        </p:txBody>
      </p:sp>
      <p:sp>
        <p:nvSpPr>
          <p:cNvPr id="52" name="TextBox 51"/>
          <p:cNvSpPr txBox="1"/>
          <p:nvPr/>
        </p:nvSpPr>
        <p:spPr>
          <a:xfrm>
            <a:off x="6583680" y="5294376"/>
            <a:ext cx="2286000" cy="365760"/>
          </a:xfrm>
          <a:prstGeom prst="rect">
            <a:avLst/>
          </a:prstGeom>
          <a:noFill/>
        </p:spPr>
        <p:txBody>
          <a:bodyPr wrap="square">
            <a:spAutoFit/>
          </a:bodyPr>
          <a:lstStyle/>
          <a:p>
            <a:pPr algn="l">
              <a:defRPr sz="1100" b="0">
                <a:solidFill>
                  <a:srgbClr val="6B7280"/>
                </a:solidFill>
              </a:defRPr>
            </a:pPr>
            <a:r>
              <a:t>论证报告</a:t>
            </a:r>
          </a:p>
        </p:txBody>
      </p:sp>
      <p:sp>
        <p:nvSpPr>
          <p:cNvPr id="53" name="TextBox 52"/>
          <p:cNvSpPr txBox="1"/>
          <p:nvPr/>
        </p:nvSpPr>
        <p:spPr>
          <a:xfrm>
            <a:off x="9052560" y="5294376"/>
            <a:ext cx="2560320" cy="365760"/>
          </a:xfrm>
          <a:prstGeom prst="rect">
            <a:avLst/>
          </a:prstGeom>
          <a:noFill/>
        </p:spPr>
        <p:txBody>
          <a:bodyPr wrap="square">
            <a:spAutoFit/>
          </a:bodyPr>
          <a:lstStyle/>
          <a:p>
            <a:pPr algn="l">
              <a:defRPr sz="1300" b="1">
                <a:solidFill>
                  <a:srgbClr val="1A1A1A"/>
                </a:solidFill>
              </a:defRPr>
            </a:pPr>
            <a:r>
              <a:t>14份</a:t>
            </a:r>
          </a:p>
        </p:txBody>
      </p:sp>
      <p:sp>
        <p:nvSpPr>
          <p:cNvPr id="54" name="TextBox 53"/>
          <p:cNvSpPr txBox="1"/>
          <p:nvPr/>
        </p:nvSpPr>
        <p:spPr>
          <a:xfrm>
            <a:off x="6583680" y="5715000"/>
            <a:ext cx="2286000" cy="365760"/>
          </a:xfrm>
          <a:prstGeom prst="rect">
            <a:avLst/>
          </a:prstGeom>
          <a:noFill/>
        </p:spPr>
        <p:txBody>
          <a:bodyPr wrap="square">
            <a:spAutoFit/>
          </a:bodyPr>
          <a:lstStyle/>
          <a:p>
            <a:pPr algn="l">
              <a:defRPr sz="1100" b="0">
                <a:solidFill>
                  <a:srgbClr val="6B7280"/>
                </a:solidFill>
              </a:defRPr>
            </a:pPr>
            <a:r>
              <a:t>赞成票</a:t>
            </a:r>
          </a:p>
        </p:txBody>
      </p:sp>
      <p:sp>
        <p:nvSpPr>
          <p:cNvPr id="55" name="TextBox 54"/>
          <p:cNvSpPr txBox="1"/>
          <p:nvPr/>
        </p:nvSpPr>
        <p:spPr>
          <a:xfrm>
            <a:off x="9052560" y="5715000"/>
            <a:ext cx="2560320" cy="365760"/>
          </a:xfrm>
          <a:prstGeom prst="rect">
            <a:avLst/>
          </a:prstGeom>
          <a:noFill/>
        </p:spPr>
        <p:txBody>
          <a:bodyPr wrap="square">
            <a:spAutoFit/>
          </a:bodyPr>
          <a:lstStyle/>
          <a:p>
            <a:pPr algn="l">
              <a:defRPr sz="1300" b="1">
                <a:solidFill>
                  <a:srgbClr val="1A1A1A"/>
                </a:solidFill>
              </a:defRPr>
            </a:pPr>
            <a:r>
              <a:t>1767票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02  决策过程：从设想到立项</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5 / 20</a:t>
            </a:r>
          </a:p>
        </p:txBody>
      </p:sp>
      <p:sp>
        <p:nvSpPr>
          <p:cNvPr id="7" name="TextBox 6"/>
          <p:cNvSpPr txBox="1"/>
          <p:nvPr/>
        </p:nvSpPr>
        <p:spPr>
          <a:xfrm>
            <a:off x="457200" y="932688"/>
            <a:ext cx="11274552" cy="320040"/>
          </a:xfrm>
          <a:prstGeom prst="rect">
            <a:avLst/>
          </a:prstGeom>
          <a:noFill/>
        </p:spPr>
        <p:txBody>
          <a:bodyPr wrap="square">
            <a:spAutoFit/>
          </a:bodyPr>
          <a:lstStyle/>
          <a:p>
            <a:pPr algn="ctr">
              <a:defRPr sz="1200" b="0">
                <a:solidFill>
                  <a:srgbClr val="6B7280"/>
                </a:solidFill>
              </a:defRPr>
            </a:pPr>
            <a:r>
              <a:t>74年漫漫长路，四次关键转折</a:t>
            </a:r>
          </a:p>
        </p:txBody>
      </p:sp>
      <p:sp>
        <p:nvSpPr>
          <p:cNvPr id="8" name="Rectangle 7"/>
          <p:cNvSpPr/>
          <p:nvPr/>
        </p:nvSpPr>
        <p:spPr>
          <a:xfrm>
            <a:off x="457200" y="1463040"/>
            <a:ext cx="11274552" cy="3657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3000" y="1261872"/>
            <a:ext cx="457200" cy="457200"/>
          </a:xfrm>
          <a:prstGeom prst="ellipse">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43000" y="1280160"/>
            <a:ext cx="457200" cy="411480"/>
          </a:xfrm>
          <a:prstGeom prst="rect">
            <a:avLst/>
          </a:prstGeom>
          <a:noFill/>
        </p:spPr>
        <p:txBody>
          <a:bodyPr wrap="square">
            <a:spAutoFit/>
          </a:bodyPr>
          <a:lstStyle/>
          <a:p>
            <a:pPr algn="ctr">
              <a:defRPr sz="1400" b="1">
                <a:solidFill>
                  <a:srgbClr val="FFFFFF"/>
                </a:solidFill>
              </a:defRPr>
            </a:pPr>
            <a:r>
              <a:t>1</a:t>
            </a:r>
          </a:p>
        </p:txBody>
      </p:sp>
      <p:sp>
        <p:nvSpPr>
          <p:cNvPr id="11" name="TextBox 10"/>
          <p:cNvSpPr txBox="1"/>
          <p:nvPr/>
        </p:nvSpPr>
        <p:spPr>
          <a:xfrm>
            <a:off x="640080" y="1920240"/>
            <a:ext cx="1463040" cy="640080"/>
          </a:xfrm>
          <a:prstGeom prst="rect">
            <a:avLst/>
          </a:prstGeom>
          <a:noFill/>
        </p:spPr>
        <p:txBody>
          <a:bodyPr wrap="square">
            <a:spAutoFit/>
          </a:bodyPr>
          <a:lstStyle/>
          <a:p>
            <a:pPr algn="ctr">
              <a:defRPr sz="1100" b="1">
                <a:solidFill>
                  <a:srgbClr val="1E3A5F"/>
                </a:solidFill>
              </a:defRPr>
            </a:pPr>
            <a:r>
              <a:t>1918</a:t>
            </a:r>
            <a:br/>
            <a:r>
              <a:t>—1950s</a:t>
            </a:r>
          </a:p>
        </p:txBody>
      </p:sp>
      <p:sp>
        <p:nvSpPr>
          <p:cNvPr id="12" name="TextBox 11"/>
          <p:cNvSpPr txBox="1"/>
          <p:nvPr/>
        </p:nvSpPr>
        <p:spPr>
          <a:xfrm>
            <a:off x="548640" y="2606040"/>
            <a:ext cx="1645920" cy="365760"/>
          </a:xfrm>
          <a:prstGeom prst="rect">
            <a:avLst/>
          </a:prstGeom>
          <a:noFill/>
        </p:spPr>
        <p:txBody>
          <a:bodyPr wrap="square">
            <a:spAutoFit/>
          </a:bodyPr>
          <a:lstStyle/>
          <a:p>
            <a:pPr algn="ctr">
              <a:defRPr sz="1300" b="1">
                <a:solidFill>
                  <a:srgbClr val="1E3A5F"/>
                </a:solidFill>
              </a:defRPr>
            </a:pPr>
            <a:r>
              <a:t>设想萌芽</a:t>
            </a:r>
          </a:p>
        </p:txBody>
      </p:sp>
      <p:sp>
        <p:nvSpPr>
          <p:cNvPr id="13" name="TextBox 12"/>
          <p:cNvSpPr txBox="1"/>
          <p:nvPr/>
        </p:nvSpPr>
        <p:spPr>
          <a:xfrm>
            <a:off x="548640" y="2999232"/>
            <a:ext cx="1645920" cy="685800"/>
          </a:xfrm>
          <a:prstGeom prst="rect">
            <a:avLst/>
          </a:prstGeom>
          <a:noFill/>
        </p:spPr>
        <p:txBody>
          <a:bodyPr wrap="square">
            <a:spAutoFit/>
          </a:bodyPr>
          <a:lstStyle/>
          <a:p>
            <a:pPr algn="ctr">
              <a:defRPr sz="1000" b="0">
                <a:solidFill>
                  <a:srgbClr val="1A1A1A"/>
                </a:solidFill>
              </a:defRPr>
            </a:pPr>
            <a:r>
              <a:t>孙中山首提</a:t>
            </a:r>
            <a:br/>
            <a:r>
              <a:t>毛泽东规划</a:t>
            </a:r>
          </a:p>
        </p:txBody>
      </p:sp>
      <p:sp>
        <p:nvSpPr>
          <p:cNvPr id="14" name="Oval 13"/>
          <p:cNvSpPr/>
          <p:nvPr/>
        </p:nvSpPr>
        <p:spPr>
          <a:xfrm>
            <a:off x="4023360" y="1261872"/>
            <a:ext cx="457200" cy="457200"/>
          </a:xfrm>
          <a:prstGeom prst="ellipse">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023360" y="1280160"/>
            <a:ext cx="457200" cy="411480"/>
          </a:xfrm>
          <a:prstGeom prst="rect">
            <a:avLst/>
          </a:prstGeom>
          <a:noFill/>
        </p:spPr>
        <p:txBody>
          <a:bodyPr wrap="square">
            <a:spAutoFit/>
          </a:bodyPr>
          <a:lstStyle/>
          <a:p>
            <a:pPr algn="ctr">
              <a:defRPr sz="1400" b="1">
                <a:solidFill>
                  <a:srgbClr val="FFFFFF"/>
                </a:solidFill>
              </a:defRPr>
            </a:pPr>
            <a:r>
              <a:t>2</a:t>
            </a:r>
          </a:p>
        </p:txBody>
      </p:sp>
      <p:sp>
        <p:nvSpPr>
          <p:cNvPr id="16" name="TextBox 15"/>
          <p:cNvSpPr txBox="1"/>
          <p:nvPr/>
        </p:nvSpPr>
        <p:spPr>
          <a:xfrm>
            <a:off x="3520440" y="1920240"/>
            <a:ext cx="1463040" cy="640080"/>
          </a:xfrm>
          <a:prstGeom prst="rect">
            <a:avLst/>
          </a:prstGeom>
          <a:noFill/>
        </p:spPr>
        <p:txBody>
          <a:bodyPr wrap="square">
            <a:spAutoFit/>
          </a:bodyPr>
          <a:lstStyle/>
          <a:p>
            <a:pPr algn="ctr">
              <a:defRPr sz="1100" b="1">
                <a:solidFill>
                  <a:srgbClr val="2D5A8E"/>
                </a:solidFill>
              </a:defRPr>
            </a:pPr>
            <a:r>
              <a:t>1983</a:t>
            </a:r>
            <a:br/>
            <a:r>
              <a:t>—1986</a:t>
            </a:r>
          </a:p>
        </p:txBody>
      </p:sp>
      <p:sp>
        <p:nvSpPr>
          <p:cNvPr id="17" name="TextBox 16"/>
          <p:cNvSpPr txBox="1"/>
          <p:nvPr/>
        </p:nvSpPr>
        <p:spPr>
          <a:xfrm>
            <a:off x="3429000" y="2606040"/>
            <a:ext cx="1645920" cy="365760"/>
          </a:xfrm>
          <a:prstGeom prst="rect">
            <a:avLst/>
          </a:prstGeom>
          <a:noFill/>
        </p:spPr>
        <p:txBody>
          <a:bodyPr wrap="square">
            <a:spAutoFit/>
          </a:bodyPr>
          <a:lstStyle/>
          <a:p>
            <a:pPr algn="ctr">
              <a:defRPr sz="1300" b="1">
                <a:solidFill>
                  <a:srgbClr val="1E3A5F"/>
                </a:solidFill>
              </a:defRPr>
            </a:pPr>
            <a:r>
              <a:t>初步论证</a:t>
            </a:r>
          </a:p>
        </p:txBody>
      </p:sp>
      <p:sp>
        <p:nvSpPr>
          <p:cNvPr id="18" name="TextBox 17"/>
          <p:cNvSpPr txBox="1"/>
          <p:nvPr/>
        </p:nvSpPr>
        <p:spPr>
          <a:xfrm>
            <a:off x="3429000" y="2999232"/>
            <a:ext cx="1645920" cy="685800"/>
          </a:xfrm>
          <a:prstGeom prst="rect">
            <a:avLst/>
          </a:prstGeom>
          <a:noFill/>
        </p:spPr>
        <p:txBody>
          <a:bodyPr wrap="square">
            <a:spAutoFit/>
          </a:bodyPr>
          <a:lstStyle/>
          <a:p>
            <a:pPr algn="ctr">
              <a:defRPr sz="1000" b="0">
                <a:solidFill>
                  <a:srgbClr val="1A1A1A"/>
                </a:solidFill>
              </a:defRPr>
            </a:pPr>
            <a:r>
              <a:t>150米低坝</a:t>
            </a:r>
            <a:br/>
            <a:r>
              <a:t>引发争议</a:t>
            </a:r>
          </a:p>
        </p:txBody>
      </p:sp>
      <p:sp>
        <p:nvSpPr>
          <p:cNvPr id="19" name="Oval 18"/>
          <p:cNvSpPr/>
          <p:nvPr/>
        </p:nvSpPr>
        <p:spPr>
          <a:xfrm>
            <a:off x="6903720" y="1261872"/>
            <a:ext cx="457200" cy="457200"/>
          </a:xfrm>
          <a:prstGeom prst="ellipse">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1280160"/>
            <a:ext cx="457200" cy="411480"/>
          </a:xfrm>
          <a:prstGeom prst="rect">
            <a:avLst/>
          </a:prstGeom>
          <a:noFill/>
        </p:spPr>
        <p:txBody>
          <a:bodyPr wrap="square">
            <a:spAutoFit/>
          </a:bodyPr>
          <a:lstStyle/>
          <a:p>
            <a:pPr algn="ctr">
              <a:defRPr sz="1400" b="1">
                <a:solidFill>
                  <a:srgbClr val="FFFFFF"/>
                </a:solidFill>
              </a:defRPr>
            </a:pPr>
            <a:r>
              <a:t>3</a:t>
            </a:r>
          </a:p>
        </p:txBody>
      </p:sp>
      <p:sp>
        <p:nvSpPr>
          <p:cNvPr id="21" name="TextBox 20"/>
          <p:cNvSpPr txBox="1"/>
          <p:nvPr/>
        </p:nvSpPr>
        <p:spPr>
          <a:xfrm>
            <a:off x="6400799" y="1920240"/>
            <a:ext cx="1463040" cy="640080"/>
          </a:xfrm>
          <a:prstGeom prst="rect">
            <a:avLst/>
          </a:prstGeom>
          <a:noFill/>
        </p:spPr>
        <p:txBody>
          <a:bodyPr wrap="square">
            <a:spAutoFit/>
          </a:bodyPr>
          <a:lstStyle/>
          <a:p>
            <a:pPr algn="ctr">
              <a:defRPr sz="1100" b="1">
                <a:solidFill>
                  <a:srgbClr val="D4A84B"/>
                </a:solidFill>
              </a:defRPr>
            </a:pPr>
            <a:r>
              <a:t>1986</a:t>
            </a:r>
            <a:br/>
            <a:r>
              <a:t>—1989</a:t>
            </a:r>
          </a:p>
        </p:txBody>
      </p:sp>
      <p:sp>
        <p:nvSpPr>
          <p:cNvPr id="22" name="TextBox 21"/>
          <p:cNvSpPr txBox="1"/>
          <p:nvPr/>
        </p:nvSpPr>
        <p:spPr>
          <a:xfrm>
            <a:off x="6309359" y="2606040"/>
            <a:ext cx="1645920" cy="365760"/>
          </a:xfrm>
          <a:prstGeom prst="rect">
            <a:avLst/>
          </a:prstGeom>
          <a:noFill/>
        </p:spPr>
        <p:txBody>
          <a:bodyPr wrap="square">
            <a:spAutoFit/>
          </a:bodyPr>
          <a:lstStyle/>
          <a:p>
            <a:pPr algn="ctr">
              <a:defRPr sz="1300" b="1">
                <a:solidFill>
                  <a:srgbClr val="1E3A5F"/>
                </a:solidFill>
              </a:defRPr>
            </a:pPr>
            <a:r>
              <a:t>重新论证</a:t>
            </a:r>
          </a:p>
        </p:txBody>
      </p:sp>
      <p:sp>
        <p:nvSpPr>
          <p:cNvPr id="23" name="TextBox 22"/>
          <p:cNvSpPr txBox="1"/>
          <p:nvPr/>
        </p:nvSpPr>
        <p:spPr>
          <a:xfrm>
            <a:off x="6309359" y="2999232"/>
            <a:ext cx="1645920" cy="685800"/>
          </a:xfrm>
          <a:prstGeom prst="rect">
            <a:avLst/>
          </a:prstGeom>
          <a:noFill/>
        </p:spPr>
        <p:txBody>
          <a:bodyPr wrap="square">
            <a:spAutoFit/>
          </a:bodyPr>
          <a:lstStyle/>
          <a:p>
            <a:pPr algn="ctr">
              <a:defRPr sz="1000" b="0">
                <a:solidFill>
                  <a:srgbClr val="1A1A1A"/>
                </a:solidFill>
              </a:defRPr>
            </a:pPr>
            <a:r>
              <a:t>412位专家</a:t>
            </a:r>
            <a:br/>
            <a:r>
              <a:t>14份报告</a:t>
            </a:r>
          </a:p>
        </p:txBody>
      </p:sp>
      <p:sp>
        <p:nvSpPr>
          <p:cNvPr id="24" name="Oval 23"/>
          <p:cNvSpPr/>
          <p:nvPr/>
        </p:nvSpPr>
        <p:spPr>
          <a:xfrm>
            <a:off x="9784080" y="1261872"/>
            <a:ext cx="457200" cy="45720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1280160"/>
            <a:ext cx="457200" cy="411480"/>
          </a:xfrm>
          <a:prstGeom prst="rect">
            <a:avLst/>
          </a:prstGeom>
          <a:noFill/>
        </p:spPr>
        <p:txBody>
          <a:bodyPr wrap="square">
            <a:spAutoFit/>
          </a:bodyPr>
          <a:lstStyle/>
          <a:p>
            <a:pPr algn="ctr">
              <a:defRPr sz="1400" b="1">
                <a:solidFill>
                  <a:srgbClr val="FFFFFF"/>
                </a:solidFill>
              </a:defRPr>
            </a:pPr>
            <a:r>
              <a:t>4</a:t>
            </a:r>
          </a:p>
        </p:txBody>
      </p:sp>
      <p:sp>
        <p:nvSpPr>
          <p:cNvPr id="26" name="TextBox 25"/>
          <p:cNvSpPr txBox="1"/>
          <p:nvPr/>
        </p:nvSpPr>
        <p:spPr>
          <a:xfrm>
            <a:off x="9281159" y="1920240"/>
            <a:ext cx="1463040" cy="640080"/>
          </a:xfrm>
          <a:prstGeom prst="rect">
            <a:avLst/>
          </a:prstGeom>
          <a:noFill/>
        </p:spPr>
        <p:txBody>
          <a:bodyPr wrap="square">
            <a:spAutoFit/>
          </a:bodyPr>
          <a:lstStyle/>
          <a:p>
            <a:pPr algn="ctr">
              <a:defRPr sz="1100" b="1">
                <a:solidFill>
                  <a:srgbClr val="2E7D32"/>
                </a:solidFill>
              </a:defRPr>
            </a:pPr>
            <a:r>
              <a:t>1990</a:t>
            </a:r>
            <a:br/>
            <a:r>
              <a:t>—1992</a:t>
            </a:r>
          </a:p>
        </p:txBody>
      </p:sp>
      <p:sp>
        <p:nvSpPr>
          <p:cNvPr id="27" name="TextBox 26"/>
          <p:cNvSpPr txBox="1"/>
          <p:nvPr/>
        </p:nvSpPr>
        <p:spPr>
          <a:xfrm>
            <a:off x="9189719" y="2606040"/>
            <a:ext cx="1645920" cy="365760"/>
          </a:xfrm>
          <a:prstGeom prst="rect">
            <a:avLst/>
          </a:prstGeom>
          <a:noFill/>
        </p:spPr>
        <p:txBody>
          <a:bodyPr wrap="square">
            <a:spAutoFit/>
          </a:bodyPr>
          <a:lstStyle/>
          <a:p>
            <a:pPr algn="ctr">
              <a:defRPr sz="1300" b="1">
                <a:solidFill>
                  <a:srgbClr val="1E3A5F"/>
                </a:solidFill>
              </a:defRPr>
            </a:pPr>
            <a:r>
              <a:t>全国人大</a:t>
            </a:r>
          </a:p>
        </p:txBody>
      </p:sp>
      <p:sp>
        <p:nvSpPr>
          <p:cNvPr id="28" name="TextBox 27"/>
          <p:cNvSpPr txBox="1"/>
          <p:nvPr/>
        </p:nvSpPr>
        <p:spPr>
          <a:xfrm>
            <a:off x="9189719" y="2999232"/>
            <a:ext cx="1645920" cy="685800"/>
          </a:xfrm>
          <a:prstGeom prst="rect">
            <a:avLst/>
          </a:prstGeom>
          <a:noFill/>
        </p:spPr>
        <p:txBody>
          <a:bodyPr wrap="square">
            <a:spAutoFit/>
          </a:bodyPr>
          <a:lstStyle/>
          <a:p>
            <a:pPr algn="ctr">
              <a:defRPr sz="1000" b="0">
                <a:solidFill>
                  <a:srgbClr val="1A1A1A"/>
                </a:solidFill>
              </a:defRPr>
            </a:pPr>
            <a:r>
              <a:t>审议通过</a:t>
            </a:r>
            <a:br/>
            <a:r>
              <a:t>正式立项</a:t>
            </a:r>
          </a:p>
        </p:txBody>
      </p:sp>
      <p:sp>
        <p:nvSpPr>
          <p:cNvPr id="29" name="Rectangle 28"/>
          <p:cNvSpPr/>
          <p:nvPr/>
        </p:nvSpPr>
        <p:spPr>
          <a:xfrm>
            <a:off x="365760" y="3840480"/>
            <a:ext cx="11457432" cy="2331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3977639"/>
            <a:ext cx="10972800" cy="365760"/>
          </a:xfrm>
          <a:prstGeom prst="rect">
            <a:avLst/>
          </a:prstGeom>
          <a:noFill/>
        </p:spPr>
        <p:txBody>
          <a:bodyPr wrap="square">
            <a:spAutoFit/>
          </a:bodyPr>
          <a:lstStyle/>
          <a:p>
            <a:pPr algn="l">
              <a:defRPr sz="1400" b="1">
                <a:solidFill>
                  <a:srgbClr val="1E3A5F"/>
                </a:solidFill>
              </a:defRPr>
            </a:pPr>
            <a:r>
              <a:t>决策过程特征分析</a:t>
            </a:r>
          </a:p>
        </p:txBody>
      </p:sp>
      <p:sp>
        <p:nvSpPr>
          <p:cNvPr id="31" name="Rectangle 30"/>
          <p:cNvSpPr/>
          <p:nvPr/>
        </p:nvSpPr>
        <p:spPr>
          <a:xfrm>
            <a:off x="548640" y="4343400"/>
            <a:ext cx="1097280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4480560"/>
            <a:ext cx="10972800" cy="1554480"/>
          </a:xfrm>
          <a:prstGeom prst="rect">
            <a:avLst/>
          </a:prstGeom>
          <a:noFill/>
        </p:spPr>
        <p:txBody>
          <a:bodyPr wrap="square">
            <a:spAutoFit/>
          </a:bodyPr>
          <a:lstStyle/>
          <a:p>
            <a:pPr algn="l">
              <a:defRPr sz="1200" b="0">
                <a:solidFill>
                  <a:srgbClr val="1A1A1A"/>
                </a:solidFill>
              </a:defRPr>
            </a:pPr>
            <a:r>
              <a:t>三峡工程决策呈现出"长周期、多轮次、广参与"的显著特征。从初步设想到最终获批历时74年，期间经历了从150米低坝到175米中坝的重大方案调整。整个过程充满了激烈争论——这恰恰是"吵出来的决策"，也是科学性和民主性并存的最佳诠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02  阶段一：设想萌芽（1918—1950年代）</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6 / 20</a:t>
            </a:r>
          </a:p>
        </p:txBody>
      </p:sp>
      <p:sp>
        <p:nvSpPr>
          <p:cNvPr id="7" name="Rectangle 6"/>
          <p:cNvSpPr/>
          <p:nvPr/>
        </p:nvSpPr>
        <p:spPr>
          <a:xfrm>
            <a:off x="365760" y="960120"/>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1188720" cy="365760"/>
          </a:xfrm>
          <a:prstGeom prst="rect">
            <a:avLst/>
          </a:prstGeom>
          <a:noFill/>
        </p:spPr>
        <p:txBody>
          <a:bodyPr wrap="square">
            <a:spAutoFit/>
          </a:bodyPr>
          <a:lstStyle/>
          <a:p>
            <a:pPr algn="ctr">
              <a:defRPr sz="1200" b="1">
                <a:solidFill>
                  <a:srgbClr val="FFFFFF"/>
                </a:solidFill>
              </a:defRPr>
            </a:pPr>
            <a:r>
              <a:t>1918年</a:t>
            </a:r>
          </a:p>
        </p:txBody>
      </p:sp>
      <p:sp>
        <p:nvSpPr>
          <p:cNvPr id="9" name="Rectangle 8"/>
          <p:cNvSpPr/>
          <p:nvPr/>
        </p:nvSpPr>
        <p:spPr>
          <a:xfrm>
            <a:off x="1737360" y="960120"/>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0" y="1051560"/>
            <a:ext cx="9692640" cy="365760"/>
          </a:xfrm>
          <a:prstGeom prst="rect">
            <a:avLst/>
          </a:prstGeom>
          <a:noFill/>
        </p:spPr>
        <p:txBody>
          <a:bodyPr wrap="square">
            <a:spAutoFit/>
          </a:bodyPr>
          <a:lstStyle/>
          <a:p>
            <a:pPr algn="l">
              <a:defRPr sz="1400" b="1">
                <a:solidFill>
                  <a:srgbClr val="1E3A5F"/>
                </a:solidFill>
              </a:defRPr>
            </a:pPr>
            <a:r>
              <a:t>孙中山《建国方略》</a:t>
            </a:r>
          </a:p>
        </p:txBody>
      </p:sp>
      <p:sp>
        <p:nvSpPr>
          <p:cNvPr id="11" name="Rectangle 10"/>
          <p:cNvSpPr/>
          <p:nvPr/>
        </p:nvSpPr>
        <p:spPr>
          <a:xfrm>
            <a:off x="1920240" y="1417320"/>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20240" y="1490472"/>
            <a:ext cx="9692640" cy="1005840"/>
          </a:xfrm>
          <a:prstGeom prst="rect">
            <a:avLst/>
          </a:prstGeom>
          <a:noFill/>
        </p:spPr>
        <p:txBody>
          <a:bodyPr wrap="square">
            <a:spAutoFit/>
          </a:bodyPr>
          <a:lstStyle/>
          <a:p>
            <a:pPr algn="l">
              <a:defRPr sz="1100" b="0">
                <a:solidFill>
                  <a:srgbClr val="1A1A1A"/>
                </a:solidFill>
              </a:defRPr>
            </a:pPr>
            <a:r>
              <a:t>首次提出三峡工程设想："以水闸堰其水，使舟得溯流以行，而又可资其水力"。这是三峡工程最早的官方文献记载，将利用长江水力资源、发展航运与灌溉的理想付诸纸面。</a:t>
            </a:r>
          </a:p>
        </p:txBody>
      </p:sp>
      <p:sp>
        <p:nvSpPr>
          <p:cNvPr id="13" name="Rectangle 12"/>
          <p:cNvSpPr/>
          <p:nvPr/>
        </p:nvSpPr>
        <p:spPr>
          <a:xfrm>
            <a:off x="365760" y="2715768"/>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2807208"/>
            <a:ext cx="1188720" cy="365760"/>
          </a:xfrm>
          <a:prstGeom prst="rect">
            <a:avLst/>
          </a:prstGeom>
          <a:noFill/>
        </p:spPr>
        <p:txBody>
          <a:bodyPr wrap="square">
            <a:spAutoFit/>
          </a:bodyPr>
          <a:lstStyle/>
          <a:p>
            <a:pPr algn="ctr">
              <a:defRPr sz="1200" b="1">
                <a:solidFill>
                  <a:srgbClr val="FFFFFF"/>
                </a:solidFill>
              </a:defRPr>
            </a:pPr>
            <a:r>
              <a:t>1956年</a:t>
            </a:r>
          </a:p>
        </p:txBody>
      </p:sp>
      <p:sp>
        <p:nvSpPr>
          <p:cNvPr id="15" name="Rectangle 14"/>
          <p:cNvSpPr/>
          <p:nvPr/>
        </p:nvSpPr>
        <p:spPr>
          <a:xfrm>
            <a:off x="1737360" y="2715768"/>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920240" y="2807208"/>
            <a:ext cx="9692640" cy="365760"/>
          </a:xfrm>
          <a:prstGeom prst="rect">
            <a:avLst/>
          </a:prstGeom>
          <a:noFill/>
        </p:spPr>
        <p:txBody>
          <a:bodyPr wrap="square">
            <a:spAutoFit/>
          </a:bodyPr>
          <a:lstStyle/>
          <a:p>
            <a:pPr algn="l">
              <a:defRPr sz="1400" b="1">
                <a:solidFill>
                  <a:srgbClr val="1E3A5F"/>
                </a:solidFill>
              </a:defRPr>
            </a:pPr>
            <a:r>
              <a:t>毛泽东《水调歌头·游泳》</a:t>
            </a:r>
          </a:p>
        </p:txBody>
      </p:sp>
      <p:sp>
        <p:nvSpPr>
          <p:cNvPr id="17" name="Rectangle 16"/>
          <p:cNvSpPr/>
          <p:nvPr/>
        </p:nvSpPr>
        <p:spPr>
          <a:xfrm>
            <a:off x="1920240" y="3172968"/>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920240" y="3246120"/>
            <a:ext cx="9692640" cy="1005840"/>
          </a:xfrm>
          <a:prstGeom prst="rect">
            <a:avLst/>
          </a:prstGeom>
          <a:noFill/>
        </p:spPr>
        <p:txBody>
          <a:bodyPr wrap="square">
            <a:spAutoFit/>
          </a:bodyPr>
          <a:lstStyle/>
          <a:p>
            <a:pPr algn="l">
              <a:defRPr sz="1100" b="0">
                <a:solidFill>
                  <a:srgbClr val="1A1A1A"/>
                </a:solidFill>
              </a:defRPr>
            </a:pPr>
            <a:r>
              <a:t>写下"更立西江石壁，截断巫山云雨，高峡出平湖，神女应无恙，当惊世界殊"。这首词将三峡工程提升到民族复兴的象征高度，赋予强烈的政治感召力，也为后来的决策奠定了广泛的社会心理基础。</a:t>
            </a:r>
          </a:p>
        </p:txBody>
      </p:sp>
      <p:sp>
        <p:nvSpPr>
          <p:cNvPr id="19" name="Rectangle 18"/>
          <p:cNvSpPr/>
          <p:nvPr/>
        </p:nvSpPr>
        <p:spPr>
          <a:xfrm>
            <a:off x="365760" y="4471416"/>
            <a:ext cx="1188720" cy="5029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4562855"/>
            <a:ext cx="1188720" cy="365760"/>
          </a:xfrm>
          <a:prstGeom prst="rect">
            <a:avLst/>
          </a:prstGeom>
          <a:noFill/>
        </p:spPr>
        <p:txBody>
          <a:bodyPr wrap="square">
            <a:spAutoFit/>
          </a:bodyPr>
          <a:lstStyle/>
          <a:p>
            <a:pPr algn="ctr">
              <a:defRPr sz="1200" b="1">
                <a:solidFill>
                  <a:srgbClr val="FFFFFF"/>
                </a:solidFill>
              </a:defRPr>
            </a:pPr>
            <a:r>
              <a:t>1958年</a:t>
            </a:r>
          </a:p>
        </p:txBody>
      </p:sp>
      <p:sp>
        <p:nvSpPr>
          <p:cNvPr id="21" name="Rectangle 20"/>
          <p:cNvSpPr/>
          <p:nvPr/>
        </p:nvSpPr>
        <p:spPr>
          <a:xfrm>
            <a:off x="1737360" y="4471416"/>
            <a:ext cx="10104120" cy="1572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20240" y="4562855"/>
            <a:ext cx="9692640" cy="365760"/>
          </a:xfrm>
          <a:prstGeom prst="rect">
            <a:avLst/>
          </a:prstGeom>
          <a:noFill/>
        </p:spPr>
        <p:txBody>
          <a:bodyPr wrap="square">
            <a:spAutoFit/>
          </a:bodyPr>
          <a:lstStyle/>
          <a:p>
            <a:pPr algn="l">
              <a:defRPr sz="1400" b="1">
                <a:solidFill>
                  <a:srgbClr val="1E3A5F"/>
                </a:solidFill>
              </a:defRPr>
            </a:pPr>
            <a:r>
              <a:t>南宁会议定调</a:t>
            </a:r>
          </a:p>
        </p:txBody>
      </p:sp>
      <p:sp>
        <p:nvSpPr>
          <p:cNvPr id="23" name="Rectangle 22"/>
          <p:cNvSpPr/>
          <p:nvPr/>
        </p:nvSpPr>
        <p:spPr>
          <a:xfrm>
            <a:off x="1920240" y="4928616"/>
            <a:ext cx="969264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20240" y="5001768"/>
            <a:ext cx="9692640" cy="1005840"/>
          </a:xfrm>
          <a:prstGeom prst="rect">
            <a:avLst/>
          </a:prstGeom>
          <a:noFill/>
        </p:spPr>
        <p:txBody>
          <a:bodyPr wrap="square">
            <a:spAutoFit/>
          </a:bodyPr>
          <a:lstStyle/>
          <a:p>
            <a:pPr algn="l">
              <a:defRPr sz="1100" b="0">
                <a:solidFill>
                  <a:srgbClr val="1A1A1A"/>
                </a:solidFill>
              </a:defRPr>
            </a:pPr>
            <a:r>
              <a:t>提出"积极准备，充分可靠"八字方针，周恩来总理挂帅领导三峡工程前期工作。这一阶段的特点是：高层政治推动为主，大规模社会动员为辅，技术论证尚不充分，为后来的争议埋下了伏笔。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02  阶段二：初步论证与争议（1983—1986年）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7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14400"/>
            <a:ext cx="54864" cy="53035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5120640" cy="365760"/>
          </a:xfrm>
          <a:prstGeom prst="rect">
            <a:avLst/>
          </a:prstGeom>
          <a:noFill/>
        </p:spPr>
        <p:txBody>
          <a:bodyPr wrap="square">
            <a:spAutoFit/>
          </a:bodyPr>
          <a:lstStyle/>
          <a:p>
            <a:pPr algn="l">
              <a:defRPr sz="1400" b="1">
                <a:solidFill>
                  <a:srgbClr val="1E3A5F"/>
                </a:solidFill>
              </a:defRPr>
            </a:pPr>
            <a:r>
              <a:t>低坝方案的提出</a:t>
            </a:r>
          </a:p>
        </p:txBody>
      </p:sp>
      <p:sp>
        <p:nvSpPr>
          <p:cNvPr id="10" name="Rectangle 9"/>
          <p:cNvSpPr/>
          <p:nvPr/>
        </p:nvSpPr>
        <p:spPr>
          <a:xfrm>
            <a:off x="548640" y="1417320"/>
            <a:ext cx="5120640" cy="1828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120640" cy="1188720"/>
          </a:xfrm>
          <a:prstGeom prst="rect">
            <a:avLst/>
          </a:prstGeom>
          <a:noFill/>
        </p:spPr>
        <p:txBody>
          <a:bodyPr wrap="square">
            <a:spAutoFit/>
          </a:bodyPr>
          <a:lstStyle/>
          <a:p>
            <a:pPr algn="l">
              <a:defRPr sz="1100" b="0">
                <a:solidFill>
                  <a:srgbClr val="1A1A1A"/>
                </a:solidFill>
              </a:defRPr>
            </a:pPr>
            <a:r>
              <a:t>1983年，国家计委审查通过150米低坝方案。1984年4月，国务院初步确定实施。低坝方案的核心考虑是：尽量减少淹没面积、控制移民规模、降低投资压力。</a:t>
            </a:r>
          </a:p>
        </p:txBody>
      </p:sp>
      <p:sp>
        <p:nvSpPr>
          <p:cNvPr id="12" name="TextBox 11"/>
          <p:cNvSpPr txBox="1"/>
          <p:nvPr/>
        </p:nvSpPr>
        <p:spPr>
          <a:xfrm>
            <a:off x="548640" y="2743200"/>
            <a:ext cx="5120640" cy="1371600"/>
          </a:xfrm>
          <a:prstGeom prst="rect">
            <a:avLst/>
          </a:prstGeom>
          <a:noFill/>
        </p:spPr>
        <p:txBody>
          <a:bodyPr wrap="square">
            <a:spAutoFit/>
          </a:bodyPr>
          <a:lstStyle/>
          <a:p>
            <a:pPr algn="l">
              <a:defRPr sz="1100" b="0">
                <a:solidFill>
                  <a:srgbClr val="1A1A1A"/>
                </a:solidFill>
              </a:defRPr>
            </a:pPr>
            <a:r>
              <a:t>然而，这一方案很快引发了激烈争议。部分专家认为低坝方案发电效益有限、防洪能力不足，后期扩建成本更高。更有一部分专家从技术可行性、经济合理性、生态影响等角度出发，明确反对修建。</a:t>
            </a:r>
          </a:p>
        </p:txBody>
      </p:sp>
      <p:sp>
        <p:nvSpPr>
          <p:cNvPr id="13" name="Rectangle 12"/>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051560"/>
            <a:ext cx="5303520" cy="365760"/>
          </a:xfrm>
          <a:prstGeom prst="rect">
            <a:avLst/>
          </a:prstGeom>
          <a:noFill/>
        </p:spPr>
        <p:txBody>
          <a:bodyPr wrap="square">
            <a:spAutoFit/>
          </a:bodyPr>
          <a:lstStyle/>
          <a:p>
            <a:pPr algn="l">
              <a:defRPr sz="1400" b="1">
                <a:solidFill>
                  <a:srgbClr val="D4583A"/>
                </a:solidFill>
              </a:defRPr>
            </a:pPr>
            <a:r>
              <a:t>反对声音代表：孙越崎</a:t>
            </a:r>
          </a:p>
        </p:txBody>
      </p:sp>
      <p:sp>
        <p:nvSpPr>
          <p:cNvPr id="16" name="Rectangle 15"/>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572768"/>
            <a:ext cx="5303520" cy="1280160"/>
          </a:xfrm>
          <a:prstGeom prst="rect">
            <a:avLst/>
          </a:prstGeom>
          <a:noFill/>
        </p:spPr>
        <p:txBody>
          <a:bodyPr wrap="square">
            <a:spAutoFit/>
          </a:bodyPr>
          <a:lstStyle/>
          <a:p>
            <a:pPr algn="l">
              <a:defRPr sz="1100" b="0">
                <a:solidFill>
                  <a:srgbClr val="1A1A1A"/>
                </a:solidFill>
              </a:defRPr>
            </a:pPr>
            <a:r>
              <a:t>93岁的全国政协常委孙越崎，率众实地考察后提交了《三峡工程近期不能上》的长篇调查报告，系统提出了五大质疑：</a:t>
            </a:r>
          </a:p>
        </p:txBody>
      </p:sp>
      <p:sp>
        <p:nvSpPr>
          <p:cNvPr id="18" name="TextBox 17"/>
          <p:cNvSpPr txBox="1"/>
          <p:nvPr/>
        </p:nvSpPr>
        <p:spPr>
          <a:xfrm>
            <a:off x="6492240" y="2834640"/>
            <a:ext cx="5029200" cy="365760"/>
          </a:xfrm>
          <a:prstGeom prst="rect">
            <a:avLst/>
          </a:prstGeom>
          <a:noFill/>
        </p:spPr>
        <p:txBody>
          <a:bodyPr wrap="square">
            <a:spAutoFit/>
          </a:bodyPr>
          <a:lstStyle/>
          <a:p>
            <a:pPr algn="l">
              <a:defRPr sz="1100" b="0">
                <a:solidFill>
                  <a:srgbClr val="1A1A1A"/>
                </a:solidFill>
              </a:defRPr>
            </a:pPr>
            <a:r>
              <a:t>• 泥沙淤积将缩短水库寿命，影响长期运行</a:t>
            </a:r>
          </a:p>
        </p:txBody>
      </p:sp>
      <p:sp>
        <p:nvSpPr>
          <p:cNvPr id="19" name="TextBox 18"/>
          <p:cNvSpPr txBox="1"/>
          <p:nvPr/>
        </p:nvSpPr>
        <p:spPr>
          <a:xfrm>
            <a:off x="6492240" y="3218688"/>
            <a:ext cx="5029200" cy="365760"/>
          </a:xfrm>
          <a:prstGeom prst="rect">
            <a:avLst/>
          </a:prstGeom>
          <a:noFill/>
        </p:spPr>
        <p:txBody>
          <a:bodyPr wrap="square">
            <a:spAutoFit/>
          </a:bodyPr>
          <a:lstStyle/>
          <a:p>
            <a:pPr algn="l">
              <a:defRPr sz="1100" b="0">
                <a:solidFill>
                  <a:srgbClr val="1A1A1A"/>
                </a:solidFill>
              </a:defRPr>
            </a:pPr>
            <a:r>
              <a:t>• 诱发地震风险可能危及大坝安全</a:t>
            </a:r>
          </a:p>
        </p:txBody>
      </p:sp>
      <p:sp>
        <p:nvSpPr>
          <p:cNvPr id="20" name="TextBox 19"/>
          <p:cNvSpPr txBox="1"/>
          <p:nvPr/>
        </p:nvSpPr>
        <p:spPr>
          <a:xfrm>
            <a:off x="6492240" y="3602736"/>
            <a:ext cx="5029200" cy="365760"/>
          </a:xfrm>
          <a:prstGeom prst="rect">
            <a:avLst/>
          </a:prstGeom>
          <a:noFill/>
        </p:spPr>
        <p:txBody>
          <a:bodyPr wrap="square">
            <a:spAutoFit/>
          </a:bodyPr>
          <a:lstStyle/>
          <a:p>
            <a:pPr algn="l">
              <a:defRPr sz="1100" b="0">
                <a:solidFill>
                  <a:srgbClr val="1A1A1A"/>
                </a:solidFill>
              </a:defRPr>
            </a:pPr>
            <a:r>
              <a:t>• 库区生态环境面临不可逆破坏</a:t>
            </a:r>
          </a:p>
        </p:txBody>
      </p:sp>
      <p:sp>
        <p:nvSpPr>
          <p:cNvPr id="21" name="TextBox 20"/>
          <p:cNvSpPr txBox="1"/>
          <p:nvPr/>
        </p:nvSpPr>
        <p:spPr>
          <a:xfrm>
            <a:off x="6492240" y="3986784"/>
            <a:ext cx="5029200" cy="365760"/>
          </a:xfrm>
          <a:prstGeom prst="rect">
            <a:avLst/>
          </a:prstGeom>
          <a:noFill/>
        </p:spPr>
        <p:txBody>
          <a:bodyPr wrap="square">
            <a:spAutoFit/>
          </a:bodyPr>
          <a:lstStyle/>
          <a:p>
            <a:pPr algn="l">
              <a:defRPr sz="1100" b="0">
                <a:solidFill>
                  <a:srgbClr val="1A1A1A"/>
                </a:solidFill>
              </a:defRPr>
            </a:pPr>
            <a:r>
              <a:t>• 百万移民的社会稳定压力巨大</a:t>
            </a:r>
          </a:p>
        </p:txBody>
      </p:sp>
      <p:sp>
        <p:nvSpPr>
          <p:cNvPr id="22" name="TextBox 21"/>
          <p:cNvSpPr txBox="1"/>
          <p:nvPr/>
        </p:nvSpPr>
        <p:spPr>
          <a:xfrm>
            <a:off x="6492240" y="4370832"/>
            <a:ext cx="5029200" cy="365760"/>
          </a:xfrm>
          <a:prstGeom prst="rect">
            <a:avLst/>
          </a:prstGeom>
          <a:noFill/>
        </p:spPr>
        <p:txBody>
          <a:bodyPr wrap="square">
            <a:spAutoFit/>
          </a:bodyPr>
          <a:lstStyle/>
          <a:p>
            <a:pPr algn="l">
              <a:defRPr sz="1100" b="0">
                <a:solidFill>
                  <a:srgbClr val="1A1A1A"/>
                </a:solidFill>
              </a:defRPr>
            </a:pPr>
            <a:r>
              <a:t>• 数百亿投资的国民经济负担堪忧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02  阶段三：重新论证（1986—1989年）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8 / 20</a:t>
            </a:r>
          </a:p>
        </p:txBody>
      </p:sp>
      <p:sp>
        <p:nvSpPr>
          <p:cNvPr id="7" name="Rectangle 6"/>
          <p:cNvSpPr/>
          <p:nvPr/>
        </p:nvSpPr>
        <p:spPr>
          <a:xfrm>
            <a:off x="36576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51560"/>
            <a:ext cx="2651760" cy="685800"/>
          </a:xfrm>
          <a:prstGeom prst="rect">
            <a:avLst/>
          </a:prstGeom>
          <a:noFill/>
        </p:spPr>
        <p:txBody>
          <a:bodyPr wrap="square">
            <a:spAutoFit/>
          </a:bodyPr>
          <a:lstStyle/>
          <a:p>
            <a:pPr algn="ctr">
              <a:defRPr sz="3000" b="1">
                <a:solidFill>
                  <a:srgbClr val="FFFFFF"/>
                </a:solidFill>
              </a:defRPr>
            </a:pPr>
            <a:r>
              <a:t>412</a:t>
            </a:r>
          </a:p>
        </p:txBody>
      </p:sp>
      <p:sp>
        <p:nvSpPr>
          <p:cNvPr id="9" name="TextBox 8"/>
          <p:cNvSpPr txBox="1"/>
          <p:nvPr/>
        </p:nvSpPr>
        <p:spPr>
          <a:xfrm>
            <a:off x="365760" y="1719072"/>
            <a:ext cx="2651760" cy="411480"/>
          </a:xfrm>
          <a:prstGeom prst="rect">
            <a:avLst/>
          </a:prstGeom>
          <a:noFill/>
        </p:spPr>
        <p:txBody>
          <a:bodyPr wrap="square">
            <a:spAutoFit/>
          </a:bodyPr>
          <a:lstStyle/>
          <a:p>
            <a:pPr algn="ctr">
              <a:defRPr sz="1200" b="0">
                <a:solidFill>
                  <a:srgbClr val="AABBDD"/>
                </a:solidFill>
              </a:defRPr>
            </a:pPr>
            <a:r>
              <a:t>参与专家</a:t>
            </a:r>
          </a:p>
        </p:txBody>
      </p:sp>
      <p:sp>
        <p:nvSpPr>
          <p:cNvPr id="10" name="Rectangle 9"/>
          <p:cNvSpPr/>
          <p:nvPr/>
        </p:nvSpPr>
        <p:spPr>
          <a:xfrm>
            <a:off x="329184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051560"/>
            <a:ext cx="2651760" cy="685800"/>
          </a:xfrm>
          <a:prstGeom prst="rect">
            <a:avLst/>
          </a:prstGeom>
          <a:noFill/>
        </p:spPr>
        <p:txBody>
          <a:bodyPr wrap="square">
            <a:spAutoFit/>
          </a:bodyPr>
          <a:lstStyle/>
          <a:p>
            <a:pPr algn="ctr">
              <a:defRPr sz="3000" b="1">
                <a:solidFill>
                  <a:srgbClr val="FFFFFF"/>
                </a:solidFill>
              </a:defRPr>
            </a:pPr>
            <a:r>
              <a:t>65</a:t>
            </a:r>
          </a:p>
        </p:txBody>
      </p:sp>
      <p:sp>
        <p:nvSpPr>
          <p:cNvPr id="12" name="TextBox 11"/>
          <p:cNvSpPr txBox="1"/>
          <p:nvPr/>
        </p:nvSpPr>
        <p:spPr>
          <a:xfrm>
            <a:off x="3291840" y="1719072"/>
            <a:ext cx="2651760" cy="411480"/>
          </a:xfrm>
          <a:prstGeom prst="rect">
            <a:avLst/>
          </a:prstGeom>
          <a:noFill/>
        </p:spPr>
        <p:txBody>
          <a:bodyPr wrap="square">
            <a:spAutoFit/>
          </a:bodyPr>
          <a:lstStyle/>
          <a:p>
            <a:pPr algn="ctr">
              <a:defRPr sz="1200" b="0">
                <a:solidFill>
                  <a:srgbClr val="AABBDD"/>
                </a:solidFill>
              </a:defRPr>
            </a:pPr>
            <a:r>
              <a:t>个单位部门</a:t>
            </a:r>
          </a:p>
        </p:txBody>
      </p:sp>
      <p:sp>
        <p:nvSpPr>
          <p:cNvPr id="13" name="Rectangle 12"/>
          <p:cNvSpPr/>
          <p:nvPr/>
        </p:nvSpPr>
        <p:spPr>
          <a:xfrm>
            <a:off x="621792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051560"/>
            <a:ext cx="2651760" cy="685800"/>
          </a:xfrm>
          <a:prstGeom prst="rect">
            <a:avLst/>
          </a:prstGeom>
          <a:noFill/>
        </p:spPr>
        <p:txBody>
          <a:bodyPr wrap="square">
            <a:spAutoFit/>
          </a:bodyPr>
          <a:lstStyle/>
          <a:p>
            <a:pPr algn="ctr">
              <a:defRPr sz="3000" b="1">
                <a:solidFill>
                  <a:srgbClr val="FFFFFF"/>
                </a:solidFill>
              </a:defRPr>
            </a:pPr>
            <a:r>
              <a:t>14</a:t>
            </a:r>
          </a:p>
        </p:txBody>
      </p:sp>
      <p:sp>
        <p:nvSpPr>
          <p:cNvPr id="15" name="TextBox 14"/>
          <p:cNvSpPr txBox="1"/>
          <p:nvPr/>
        </p:nvSpPr>
        <p:spPr>
          <a:xfrm>
            <a:off x="6217920" y="1719072"/>
            <a:ext cx="2651760" cy="411480"/>
          </a:xfrm>
          <a:prstGeom prst="rect">
            <a:avLst/>
          </a:prstGeom>
          <a:noFill/>
        </p:spPr>
        <p:txBody>
          <a:bodyPr wrap="square">
            <a:spAutoFit/>
          </a:bodyPr>
          <a:lstStyle/>
          <a:p>
            <a:pPr algn="ctr">
              <a:defRPr sz="1200" b="0">
                <a:solidFill>
                  <a:srgbClr val="AABBDD"/>
                </a:solidFill>
              </a:defRPr>
            </a:pPr>
            <a:r>
              <a:t>份论证报告</a:t>
            </a:r>
          </a:p>
        </p:txBody>
      </p:sp>
      <p:sp>
        <p:nvSpPr>
          <p:cNvPr id="16" name="Rectangle 15"/>
          <p:cNvSpPr/>
          <p:nvPr/>
        </p:nvSpPr>
        <p:spPr>
          <a:xfrm>
            <a:off x="9144000" y="960120"/>
            <a:ext cx="2651760" cy="118872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051560"/>
            <a:ext cx="2651760" cy="685800"/>
          </a:xfrm>
          <a:prstGeom prst="rect">
            <a:avLst/>
          </a:prstGeom>
          <a:noFill/>
        </p:spPr>
        <p:txBody>
          <a:bodyPr wrap="square">
            <a:spAutoFit/>
          </a:bodyPr>
          <a:lstStyle/>
          <a:p>
            <a:pPr algn="ctr">
              <a:defRPr sz="3000" b="1">
                <a:solidFill>
                  <a:srgbClr val="FFFFFF"/>
                </a:solidFill>
              </a:defRPr>
            </a:pPr>
            <a:r>
              <a:t>7</a:t>
            </a:r>
          </a:p>
        </p:txBody>
      </p:sp>
      <p:sp>
        <p:nvSpPr>
          <p:cNvPr id="18" name="TextBox 17"/>
          <p:cNvSpPr txBox="1"/>
          <p:nvPr/>
        </p:nvSpPr>
        <p:spPr>
          <a:xfrm>
            <a:off x="9144000" y="1719072"/>
            <a:ext cx="2651760" cy="411480"/>
          </a:xfrm>
          <a:prstGeom prst="rect">
            <a:avLst/>
          </a:prstGeom>
          <a:noFill/>
        </p:spPr>
        <p:txBody>
          <a:bodyPr wrap="square">
            <a:spAutoFit/>
          </a:bodyPr>
          <a:lstStyle/>
          <a:p>
            <a:pPr algn="ctr">
              <a:defRPr sz="1200" b="0">
                <a:solidFill>
                  <a:srgbClr val="AABBDD"/>
                </a:solidFill>
              </a:defRPr>
            </a:pPr>
            <a:r>
              <a:t>大本异议资料</a:t>
            </a:r>
          </a:p>
        </p:txBody>
      </p:sp>
      <p:sp>
        <p:nvSpPr>
          <p:cNvPr id="19" name="Rectangle 18"/>
          <p:cNvSpPr/>
          <p:nvPr/>
        </p:nvSpPr>
        <p:spPr>
          <a:xfrm>
            <a:off x="365760" y="2331720"/>
            <a:ext cx="11457432"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487168"/>
            <a:ext cx="11064240" cy="1143000"/>
          </a:xfrm>
          <a:prstGeom prst="rect">
            <a:avLst/>
          </a:prstGeom>
          <a:noFill/>
        </p:spPr>
        <p:txBody>
          <a:bodyPr wrap="square">
            <a:spAutoFit/>
          </a:bodyPr>
          <a:lstStyle/>
          <a:p>
            <a:pPr algn="l">
              <a:defRPr sz="1200" b="0">
                <a:solidFill>
                  <a:srgbClr val="1A1A1A"/>
                </a:solidFill>
              </a:defRPr>
            </a:pPr>
            <a:r>
              <a:t>面对激烈争议，党中央、国务院于1986年6月果断决定重新论证，下发15号文件。这次论证的组织方式体现了"包容异议"的制度智慧：从全国65个单位抽调412名专家，刻意吸收持不同意见的专家参与，将各反面意见印成7大本资料，人手一册，分发给全体专家讨论参考。</a:t>
            </a:r>
          </a:p>
        </p:txBody>
      </p:sp>
      <p:sp>
        <p:nvSpPr>
          <p:cNvPr id="21" name="TextBox 20"/>
          <p:cNvSpPr txBox="1"/>
          <p:nvPr/>
        </p:nvSpPr>
        <p:spPr>
          <a:xfrm>
            <a:off x="548640" y="3611880"/>
            <a:ext cx="11064240" cy="1143000"/>
          </a:xfrm>
          <a:prstGeom prst="rect">
            <a:avLst/>
          </a:prstGeom>
          <a:noFill/>
        </p:spPr>
        <p:txBody>
          <a:bodyPr wrap="square">
            <a:spAutoFit/>
          </a:bodyPr>
          <a:lstStyle/>
          <a:p>
            <a:pPr algn="l">
              <a:defRPr sz="1200" b="0">
                <a:solidFill>
                  <a:srgbClr val="1A1A1A"/>
                </a:solidFill>
              </a:defRPr>
            </a:pPr>
            <a:r>
              <a:t>经过近三年的深入论证，形成14个专题论证报告，覆盖地质地震、泥沙淤积、生态环境、移民安置、防洪效益、发电效益等所有关键领域。每个专题都由顶尖专家领衔，进行深入调查研究、数学建模和方案比选。</a:t>
            </a:r>
          </a:p>
        </p:txBody>
      </p:sp>
      <p:sp>
        <p:nvSpPr>
          <p:cNvPr id="22" name="Rectangle 21"/>
          <p:cNvSpPr/>
          <p:nvPr/>
        </p:nvSpPr>
        <p:spPr>
          <a:xfrm>
            <a:off x="548640" y="4709160"/>
            <a:ext cx="11064240" cy="1234440"/>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4818888"/>
            <a:ext cx="10698480" cy="365760"/>
          </a:xfrm>
          <a:prstGeom prst="rect">
            <a:avLst/>
          </a:prstGeom>
          <a:noFill/>
        </p:spPr>
        <p:txBody>
          <a:bodyPr wrap="square">
            <a:spAutoFit/>
          </a:bodyPr>
          <a:lstStyle/>
          <a:p>
            <a:pPr algn="l">
              <a:defRPr sz="1200" b="1">
                <a:solidFill>
                  <a:srgbClr val="1E3A5F"/>
                </a:solidFill>
              </a:defRPr>
            </a:pPr>
            <a:r>
              <a:t>论证最终结论（1989年5月）</a:t>
            </a:r>
          </a:p>
        </p:txBody>
      </p:sp>
      <p:sp>
        <p:nvSpPr>
          <p:cNvPr id="24" name="TextBox 23"/>
          <p:cNvSpPr txBox="1"/>
          <p:nvPr/>
        </p:nvSpPr>
        <p:spPr>
          <a:xfrm>
            <a:off x="731520" y="5166360"/>
            <a:ext cx="10698480" cy="640080"/>
          </a:xfrm>
          <a:prstGeom prst="rect">
            <a:avLst/>
          </a:prstGeom>
          <a:noFill/>
        </p:spPr>
        <p:txBody>
          <a:bodyPr wrap="square">
            <a:spAutoFit/>
          </a:bodyPr>
          <a:lstStyle/>
          <a:p>
            <a:pPr algn="l">
              <a:defRPr sz="1400" b="1">
                <a:solidFill>
                  <a:srgbClr val="D4583A"/>
                </a:solidFill>
              </a:defRPr>
            </a:pPr>
            <a:r>
              <a:t>"三峡工程建比不建好，早建比晚建有利。"  实施方案：中坝方案，坝高185米、蓄水位175米。</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02  阶段四：全国人大审议与立项（1990—1992年）</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9 / 20</a:t>
            </a:r>
          </a:p>
        </p:txBody>
      </p:sp>
      <p:sp>
        <p:nvSpPr>
          <p:cNvPr id="7" name="Rectangle 6"/>
          <p:cNvSpPr/>
          <p:nvPr/>
        </p:nvSpPr>
        <p:spPr>
          <a:xfrm>
            <a:off x="1097280" y="1188720"/>
            <a:ext cx="3200400" cy="18288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1325880"/>
            <a:ext cx="3200400" cy="914400"/>
          </a:xfrm>
          <a:prstGeom prst="rect">
            <a:avLst/>
          </a:prstGeom>
          <a:noFill/>
        </p:spPr>
        <p:txBody>
          <a:bodyPr wrap="square">
            <a:spAutoFit/>
          </a:bodyPr>
          <a:lstStyle/>
          <a:p>
            <a:pPr algn="ctr">
              <a:defRPr sz="4200" b="1">
                <a:solidFill>
                  <a:srgbClr val="FFFFFF"/>
                </a:solidFill>
              </a:defRPr>
            </a:pPr>
            <a:r>
              <a:t>1767</a:t>
            </a:r>
          </a:p>
        </p:txBody>
      </p:sp>
      <p:sp>
        <p:nvSpPr>
          <p:cNvPr id="9" name="TextBox 8"/>
          <p:cNvSpPr txBox="1"/>
          <p:nvPr/>
        </p:nvSpPr>
        <p:spPr>
          <a:xfrm>
            <a:off x="1097280" y="2240280"/>
            <a:ext cx="3200400" cy="548640"/>
          </a:xfrm>
          <a:prstGeom prst="rect">
            <a:avLst/>
          </a:prstGeom>
          <a:noFill/>
        </p:spPr>
        <p:txBody>
          <a:bodyPr wrap="square">
            <a:spAutoFit/>
          </a:bodyPr>
          <a:lstStyle/>
          <a:p>
            <a:pPr algn="ctr">
              <a:defRPr sz="1600" b="1">
                <a:solidFill>
                  <a:srgbClr val="FFFFFF"/>
                </a:solidFill>
              </a:defRPr>
            </a:pPr>
            <a:r>
              <a:t>赞成票</a:t>
            </a:r>
          </a:p>
        </p:txBody>
      </p:sp>
      <p:sp>
        <p:nvSpPr>
          <p:cNvPr id="10" name="Rectangle 9"/>
          <p:cNvSpPr/>
          <p:nvPr/>
        </p:nvSpPr>
        <p:spPr>
          <a:xfrm>
            <a:off x="4663440" y="1188720"/>
            <a:ext cx="3200400" cy="182880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325880"/>
            <a:ext cx="3200400" cy="914400"/>
          </a:xfrm>
          <a:prstGeom prst="rect">
            <a:avLst/>
          </a:prstGeom>
          <a:noFill/>
        </p:spPr>
        <p:txBody>
          <a:bodyPr wrap="square">
            <a:spAutoFit/>
          </a:bodyPr>
          <a:lstStyle/>
          <a:p>
            <a:pPr algn="ctr">
              <a:defRPr sz="4200" b="1">
                <a:solidFill>
                  <a:srgbClr val="FFFFFF"/>
                </a:solidFill>
              </a:defRPr>
            </a:pPr>
            <a:r>
              <a:t>177</a:t>
            </a:r>
          </a:p>
        </p:txBody>
      </p:sp>
      <p:sp>
        <p:nvSpPr>
          <p:cNvPr id="12" name="TextBox 11"/>
          <p:cNvSpPr txBox="1"/>
          <p:nvPr/>
        </p:nvSpPr>
        <p:spPr>
          <a:xfrm>
            <a:off x="4663440" y="2240280"/>
            <a:ext cx="3200400" cy="548640"/>
          </a:xfrm>
          <a:prstGeom prst="rect">
            <a:avLst/>
          </a:prstGeom>
          <a:noFill/>
        </p:spPr>
        <p:txBody>
          <a:bodyPr wrap="square">
            <a:spAutoFit/>
          </a:bodyPr>
          <a:lstStyle/>
          <a:p>
            <a:pPr algn="ctr">
              <a:defRPr sz="1600" b="1">
                <a:solidFill>
                  <a:srgbClr val="FFFFFF"/>
                </a:solidFill>
              </a:defRPr>
            </a:pPr>
            <a:r>
              <a:t>反对票</a:t>
            </a:r>
          </a:p>
        </p:txBody>
      </p:sp>
      <p:sp>
        <p:nvSpPr>
          <p:cNvPr id="13" name="Rectangle 12"/>
          <p:cNvSpPr/>
          <p:nvPr/>
        </p:nvSpPr>
        <p:spPr>
          <a:xfrm>
            <a:off x="8229600" y="1188720"/>
            <a:ext cx="3200400" cy="182880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0" y="1325880"/>
            <a:ext cx="3200400" cy="914400"/>
          </a:xfrm>
          <a:prstGeom prst="rect">
            <a:avLst/>
          </a:prstGeom>
          <a:noFill/>
        </p:spPr>
        <p:txBody>
          <a:bodyPr wrap="square">
            <a:spAutoFit/>
          </a:bodyPr>
          <a:lstStyle/>
          <a:p>
            <a:pPr algn="ctr">
              <a:defRPr sz="4200" b="1">
                <a:solidFill>
                  <a:srgbClr val="FFFFFF"/>
                </a:solidFill>
              </a:defRPr>
            </a:pPr>
            <a:r>
              <a:t>664</a:t>
            </a:r>
          </a:p>
        </p:txBody>
      </p:sp>
      <p:sp>
        <p:nvSpPr>
          <p:cNvPr id="15" name="TextBox 14"/>
          <p:cNvSpPr txBox="1"/>
          <p:nvPr/>
        </p:nvSpPr>
        <p:spPr>
          <a:xfrm>
            <a:off x="8229600" y="2240280"/>
            <a:ext cx="3200400" cy="548640"/>
          </a:xfrm>
          <a:prstGeom prst="rect">
            <a:avLst/>
          </a:prstGeom>
          <a:noFill/>
        </p:spPr>
        <p:txBody>
          <a:bodyPr wrap="square">
            <a:spAutoFit/>
          </a:bodyPr>
          <a:lstStyle/>
          <a:p>
            <a:pPr algn="ctr">
              <a:defRPr sz="1600" b="1">
                <a:solidFill>
                  <a:srgbClr val="FFFFFF"/>
                </a:solidFill>
              </a:defRPr>
            </a:pPr>
            <a:r>
              <a:t>弃权票</a:t>
            </a:r>
          </a:p>
        </p:txBody>
      </p:sp>
      <p:sp>
        <p:nvSpPr>
          <p:cNvPr id="16" name="Rectangle 15"/>
          <p:cNvSpPr/>
          <p:nvPr/>
        </p:nvSpPr>
        <p:spPr>
          <a:xfrm>
            <a:off x="365760" y="3246120"/>
            <a:ext cx="11457432" cy="2834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3401568"/>
            <a:ext cx="11064240" cy="1005840"/>
          </a:xfrm>
          <a:prstGeom prst="rect">
            <a:avLst/>
          </a:prstGeom>
          <a:noFill/>
        </p:spPr>
        <p:txBody>
          <a:bodyPr wrap="square">
            <a:spAutoFit/>
          </a:bodyPr>
          <a:lstStyle/>
          <a:p>
            <a:pPr algn="l">
              <a:defRPr sz="1200" b="0">
                <a:solidFill>
                  <a:srgbClr val="1A1A1A"/>
                </a:solidFill>
              </a:defRPr>
            </a:pPr>
            <a:r>
              <a:t>1991年8月，国务院审查委员会通过可行性研究报告。1992年2月20日，中央政治局常委会决定将议案提交全国人大审议。这是全国人大历史上首次就单一工程项目进行投票表决，在中国的民主决策史上具有里程碑意义。</a:t>
            </a:r>
          </a:p>
        </p:txBody>
      </p:sp>
      <p:sp>
        <p:nvSpPr>
          <p:cNvPr id="18" name="TextBox 17"/>
          <p:cNvSpPr txBox="1"/>
          <p:nvPr/>
        </p:nvSpPr>
        <p:spPr>
          <a:xfrm>
            <a:off x="548640" y="4370832"/>
            <a:ext cx="11064240" cy="1188720"/>
          </a:xfrm>
          <a:prstGeom prst="rect">
            <a:avLst/>
          </a:prstGeom>
          <a:noFill/>
        </p:spPr>
        <p:txBody>
          <a:bodyPr wrap="square">
            <a:spAutoFit/>
          </a:bodyPr>
          <a:lstStyle/>
          <a:p>
            <a:pPr algn="l">
              <a:defRPr sz="1200" b="0">
                <a:solidFill>
                  <a:srgbClr val="1A1A1A"/>
                </a:solidFill>
              </a:defRPr>
            </a:pPr>
            <a:r>
              <a:t>1992年4月3日，七届全国人大五次会议通过了《关于兴建长江三峡工程的决议》。赞成率约67%——这个数字意味深长：它不是"压倒性多数"，但恰恰证明了决策过程的充分民主性。反对票和弃权票的存在本身，就是对"程序正当"的最好注脚。</a:t>
            </a:r>
          </a:p>
        </p:txBody>
      </p:sp>
      <p:sp>
        <p:nvSpPr>
          <p:cNvPr id="19" name="Rectangle 18"/>
          <p:cNvSpPr/>
          <p:nvPr/>
        </p:nvSpPr>
        <p:spPr>
          <a:xfrm>
            <a:off x="548640" y="5532120"/>
            <a:ext cx="11064240"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605272"/>
            <a:ext cx="10698480" cy="347472"/>
          </a:xfrm>
          <a:prstGeom prst="rect">
            <a:avLst/>
          </a:prstGeom>
          <a:noFill/>
        </p:spPr>
        <p:txBody>
          <a:bodyPr wrap="square">
            <a:spAutoFit/>
          </a:bodyPr>
          <a:lstStyle/>
          <a:p>
            <a:pPr algn="ctr">
              <a:defRPr sz="1300" b="1">
                <a:solidFill>
                  <a:srgbClr val="FFFFFF"/>
                </a:solidFill>
              </a:defRPr>
            </a:pPr>
            <a:r>
              <a:t>1994年12月14日，三峡工程正式开工建设。</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03  群体决策机制分析  特征一：广泛参与</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10 / 20</a:t>
            </a:r>
          </a:p>
        </p:txBody>
      </p:sp>
      <p:sp>
        <p:nvSpPr>
          <p:cNvPr id="7" name="Rectangle 6"/>
          <p:cNvSpPr/>
          <p:nvPr/>
        </p:nvSpPr>
        <p:spPr>
          <a:xfrm>
            <a:off x="365760" y="96012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43000"/>
            <a:ext cx="457200" cy="457200"/>
          </a:xfrm>
          <a:prstGeom prst="rect">
            <a:avLst/>
          </a:prstGeom>
          <a:noFill/>
        </p:spPr>
        <p:txBody>
          <a:bodyPr wrap="square">
            <a:spAutoFit/>
          </a:bodyPr>
          <a:lstStyle/>
          <a:p>
            <a:pPr algn="ctr">
              <a:defRPr sz="1500" b="1">
                <a:solidFill>
                  <a:srgbClr val="FFFFFF"/>
                </a:solidFill>
              </a:defRPr>
            </a:pPr>
            <a:r>
              <a:t>1</a:t>
            </a:r>
          </a:p>
        </p:txBody>
      </p:sp>
      <p:sp>
        <p:nvSpPr>
          <p:cNvPr id="9" name="Rectangle 8"/>
          <p:cNvSpPr/>
          <p:nvPr/>
        </p:nvSpPr>
        <p:spPr>
          <a:xfrm>
            <a:off x="914400" y="96012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051560"/>
            <a:ext cx="2286000" cy="320040"/>
          </a:xfrm>
          <a:prstGeom prst="rect">
            <a:avLst/>
          </a:prstGeom>
          <a:noFill/>
        </p:spPr>
        <p:txBody>
          <a:bodyPr wrap="square">
            <a:spAutoFit/>
          </a:bodyPr>
          <a:lstStyle/>
          <a:p>
            <a:pPr algn="l">
              <a:defRPr sz="1300" b="1">
                <a:solidFill>
                  <a:srgbClr val="1E3A5F"/>
                </a:solidFill>
              </a:defRPr>
            </a:pPr>
            <a:r>
              <a:t>中央决策层</a:t>
            </a:r>
          </a:p>
        </p:txBody>
      </p:sp>
      <p:sp>
        <p:nvSpPr>
          <p:cNvPr id="11" name="TextBox 10"/>
          <p:cNvSpPr txBox="1"/>
          <p:nvPr/>
        </p:nvSpPr>
        <p:spPr>
          <a:xfrm>
            <a:off x="3474720" y="1051560"/>
            <a:ext cx="3200400" cy="320040"/>
          </a:xfrm>
          <a:prstGeom prst="rect">
            <a:avLst/>
          </a:prstGeom>
          <a:noFill/>
        </p:spPr>
        <p:txBody>
          <a:bodyPr wrap="square">
            <a:spAutoFit/>
          </a:bodyPr>
          <a:lstStyle/>
          <a:p>
            <a:pPr algn="l">
              <a:defRPr sz="1100" b="0">
                <a:solidFill>
                  <a:srgbClr val="6B7280"/>
                </a:solidFill>
              </a:defRPr>
            </a:pPr>
            <a:r>
              <a:t>政治局常委会、全国人大</a:t>
            </a:r>
          </a:p>
        </p:txBody>
      </p:sp>
      <p:sp>
        <p:nvSpPr>
          <p:cNvPr id="12" name="TextBox 11"/>
          <p:cNvSpPr txBox="1"/>
          <p:nvPr/>
        </p:nvSpPr>
        <p:spPr>
          <a:xfrm>
            <a:off x="6858000" y="1051560"/>
            <a:ext cx="4754880" cy="320040"/>
          </a:xfrm>
          <a:prstGeom prst="rect">
            <a:avLst/>
          </a:prstGeom>
          <a:noFill/>
        </p:spPr>
        <p:txBody>
          <a:bodyPr wrap="square">
            <a:spAutoFit/>
          </a:bodyPr>
          <a:lstStyle/>
          <a:p>
            <a:pPr algn="l">
              <a:defRPr sz="1100" b="0">
                <a:solidFill>
                  <a:srgbClr val="1A1A1A"/>
                </a:solidFill>
              </a:defRPr>
            </a:pPr>
            <a:r>
              <a:t>战略决策与最终审批把关</a:t>
            </a:r>
          </a:p>
        </p:txBody>
      </p:sp>
      <p:sp>
        <p:nvSpPr>
          <p:cNvPr id="13" name="Rectangle 12"/>
          <p:cNvSpPr/>
          <p:nvPr/>
        </p:nvSpPr>
        <p:spPr>
          <a:xfrm>
            <a:off x="914400" y="178308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96596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48840"/>
            <a:ext cx="457200" cy="457200"/>
          </a:xfrm>
          <a:prstGeom prst="rect">
            <a:avLst/>
          </a:prstGeom>
          <a:noFill/>
        </p:spPr>
        <p:txBody>
          <a:bodyPr wrap="square">
            <a:spAutoFit/>
          </a:bodyPr>
          <a:lstStyle/>
          <a:p>
            <a:pPr algn="ctr">
              <a:defRPr sz="1500" b="1">
                <a:solidFill>
                  <a:srgbClr val="FFFFFF"/>
                </a:solidFill>
              </a:defRPr>
            </a:pPr>
            <a:r>
              <a:t>2</a:t>
            </a:r>
          </a:p>
        </p:txBody>
      </p:sp>
      <p:sp>
        <p:nvSpPr>
          <p:cNvPr id="16" name="Rectangle 15"/>
          <p:cNvSpPr/>
          <p:nvPr/>
        </p:nvSpPr>
        <p:spPr>
          <a:xfrm>
            <a:off x="914400" y="196596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057400"/>
            <a:ext cx="2286000" cy="320040"/>
          </a:xfrm>
          <a:prstGeom prst="rect">
            <a:avLst/>
          </a:prstGeom>
          <a:noFill/>
        </p:spPr>
        <p:txBody>
          <a:bodyPr wrap="square">
            <a:spAutoFit/>
          </a:bodyPr>
          <a:lstStyle/>
          <a:p>
            <a:pPr algn="l">
              <a:defRPr sz="1300" b="1">
                <a:solidFill>
                  <a:srgbClr val="1E3A5F"/>
                </a:solidFill>
              </a:defRPr>
            </a:pPr>
            <a:r>
              <a:t>政府部门</a:t>
            </a:r>
          </a:p>
        </p:txBody>
      </p:sp>
      <p:sp>
        <p:nvSpPr>
          <p:cNvPr id="18" name="TextBox 17"/>
          <p:cNvSpPr txBox="1"/>
          <p:nvPr/>
        </p:nvSpPr>
        <p:spPr>
          <a:xfrm>
            <a:off x="3474720" y="2057400"/>
            <a:ext cx="3200400" cy="320040"/>
          </a:xfrm>
          <a:prstGeom prst="rect">
            <a:avLst/>
          </a:prstGeom>
          <a:noFill/>
        </p:spPr>
        <p:txBody>
          <a:bodyPr wrap="square">
            <a:spAutoFit/>
          </a:bodyPr>
          <a:lstStyle/>
          <a:p>
            <a:pPr algn="l">
              <a:defRPr sz="1100" b="0">
                <a:solidFill>
                  <a:srgbClr val="6B7280"/>
                </a:solidFill>
              </a:defRPr>
            </a:pPr>
            <a:r>
              <a:t>国家计委、水利部、财政部等</a:t>
            </a:r>
          </a:p>
        </p:txBody>
      </p:sp>
      <p:sp>
        <p:nvSpPr>
          <p:cNvPr id="19" name="TextBox 18"/>
          <p:cNvSpPr txBox="1"/>
          <p:nvPr/>
        </p:nvSpPr>
        <p:spPr>
          <a:xfrm>
            <a:off x="6858000" y="2057400"/>
            <a:ext cx="4754880" cy="320040"/>
          </a:xfrm>
          <a:prstGeom prst="rect">
            <a:avLst/>
          </a:prstGeom>
          <a:noFill/>
        </p:spPr>
        <p:txBody>
          <a:bodyPr wrap="square">
            <a:spAutoFit/>
          </a:bodyPr>
          <a:lstStyle/>
          <a:p>
            <a:pPr algn="l">
              <a:defRPr sz="1100" b="0">
                <a:solidFill>
                  <a:srgbClr val="1A1A1A"/>
                </a:solidFill>
              </a:defRPr>
            </a:pPr>
            <a:r>
              <a:t>组织协调、可行性审查、资源保障</a:t>
            </a:r>
          </a:p>
        </p:txBody>
      </p:sp>
      <p:sp>
        <p:nvSpPr>
          <p:cNvPr id="20" name="Rectangle 19"/>
          <p:cNvSpPr/>
          <p:nvPr/>
        </p:nvSpPr>
        <p:spPr>
          <a:xfrm>
            <a:off x="914400" y="278892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97180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154680"/>
            <a:ext cx="457200" cy="457200"/>
          </a:xfrm>
          <a:prstGeom prst="rect">
            <a:avLst/>
          </a:prstGeom>
          <a:noFill/>
        </p:spPr>
        <p:txBody>
          <a:bodyPr wrap="square">
            <a:spAutoFit/>
          </a:bodyPr>
          <a:lstStyle/>
          <a:p>
            <a:pPr algn="ctr">
              <a:defRPr sz="1500" b="1">
                <a:solidFill>
                  <a:srgbClr val="FFFFFF"/>
                </a:solidFill>
              </a:defRPr>
            </a:pPr>
            <a:r>
              <a:t>3</a:t>
            </a:r>
          </a:p>
        </p:txBody>
      </p:sp>
      <p:sp>
        <p:nvSpPr>
          <p:cNvPr id="23" name="Rectangle 22"/>
          <p:cNvSpPr/>
          <p:nvPr/>
        </p:nvSpPr>
        <p:spPr>
          <a:xfrm>
            <a:off x="914400" y="297180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063240"/>
            <a:ext cx="2286000" cy="320040"/>
          </a:xfrm>
          <a:prstGeom prst="rect">
            <a:avLst/>
          </a:prstGeom>
          <a:noFill/>
        </p:spPr>
        <p:txBody>
          <a:bodyPr wrap="square">
            <a:spAutoFit/>
          </a:bodyPr>
          <a:lstStyle/>
          <a:p>
            <a:pPr algn="l">
              <a:defRPr sz="1300" b="1">
                <a:solidFill>
                  <a:srgbClr val="1E3A5F"/>
                </a:solidFill>
              </a:defRPr>
            </a:pPr>
            <a:r>
              <a:t>专家学者</a:t>
            </a:r>
          </a:p>
        </p:txBody>
      </p:sp>
      <p:sp>
        <p:nvSpPr>
          <p:cNvPr id="25" name="TextBox 24"/>
          <p:cNvSpPr txBox="1"/>
          <p:nvPr/>
        </p:nvSpPr>
        <p:spPr>
          <a:xfrm>
            <a:off x="3474720" y="3063240"/>
            <a:ext cx="3200400" cy="320040"/>
          </a:xfrm>
          <a:prstGeom prst="rect">
            <a:avLst/>
          </a:prstGeom>
          <a:noFill/>
        </p:spPr>
        <p:txBody>
          <a:bodyPr wrap="square">
            <a:spAutoFit/>
          </a:bodyPr>
          <a:lstStyle/>
          <a:p>
            <a:pPr algn="l">
              <a:defRPr sz="1100" b="0">
                <a:solidFill>
                  <a:srgbClr val="6B7280"/>
                </a:solidFill>
              </a:defRPr>
            </a:pPr>
            <a:r>
              <a:t>412位跨部门专家</a:t>
            </a:r>
          </a:p>
        </p:txBody>
      </p:sp>
      <p:sp>
        <p:nvSpPr>
          <p:cNvPr id="26" name="TextBox 25"/>
          <p:cNvSpPr txBox="1"/>
          <p:nvPr/>
        </p:nvSpPr>
        <p:spPr>
          <a:xfrm>
            <a:off x="6858000" y="3063240"/>
            <a:ext cx="4754880" cy="320040"/>
          </a:xfrm>
          <a:prstGeom prst="rect">
            <a:avLst/>
          </a:prstGeom>
          <a:noFill/>
        </p:spPr>
        <p:txBody>
          <a:bodyPr wrap="square">
            <a:spAutoFit/>
          </a:bodyPr>
          <a:lstStyle/>
          <a:p>
            <a:pPr algn="l">
              <a:defRPr sz="1100" b="0">
                <a:solidFill>
                  <a:srgbClr val="1A1A1A"/>
                </a:solidFill>
              </a:defRPr>
            </a:pPr>
            <a:r>
              <a:t>技术攻关、方案评估、风险论证</a:t>
            </a:r>
          </a:p>
        </p:txBody>
      </p:sp>
      <p:sp>
        <p:nvSpPr>
          <p:cNvPr id="27" name="Rectangle 26"/>
          <p:cNvSpPr/>
          <p:nvPr/>
        </p:nvSpPr>
        <p:spPr>
          <a:xfrm>
            <a:off x="914400" y="379476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97764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160520"/>
            <a:ext cx="457200" cy="457200"/>
          </a:xfrm>
          <a:prstGeom prst="rect">
            <a:avLst/>
          </a:prstGeom>
          <a:noFill/>
        </p:spPr>
        <p:txBody>
          <a:bodyPr wrap="square">
            <a:spAutoFit/>
          </a:bodyPr>
          <a:lstStyle/>
          <a:p>
            <a:pPr algn="ctr">
              <a:defRPr sz="1500" b="1">
                <a:solidFill>
                  <a:srgbClr val="FFFFFF"/>
                </a:solidFill>
              </a:defRPr>
            </a:pPr>
            <a:r>
              <a:t>4</a:t>
            </a:r>
          </a:p>
        </p:txBody>
      </p:sp>
      <p:sp>
        <p:nvSpPr>
          <p:cNvPr id="30" name="Rectangle 29"/>
          <p:cNvSpPr/>
          <p:nvPr/>
        </p:nvSpPr>
        <p:spPr>
          <a:xfrm>
            <a:off x="914400" y="397764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4069080"/>
            <a:ext cx="2286000" cy="320040"/>
          </a:xfrm>
          <a:prstGeom prst="rect">
            <a:avLst/>
          </a:prstGeom>
          <a:noFill/>
        </p:spPr>
        <p:txBody>
          <a:bodyPr wrap="square">
            <a:spAutoFit/>
          </a:bodyPr>
          <a:lstStyle/>
          <a:p>
            <a:pPr algn="l">
              <a:defRPr sz="1300" b="1">
                <a:solidFill>
                  <a:srgbClr val="1E3A5F"/>
                </a:solidFill>
              </a:defRPr>
            </a:pPr>
            <a:r>
              <a:t>地方代表</a:t>
            </a:r>
          </a:p>
        </p:txBody>
      </p:sp>
      <p:sp>
        <p:nvSpPr>
          <p:cNvPr id="32" name="TextBox 31"/>
          <p:cNvSpPr txBox="1"/>
          <p:nvPr/>
        </p:nvSpPr>
        <p:spPr>
          <a:xfrm>
            <a:off x="3474720" y="4069080"/>
            <a:ext cx="3200400" cy="320040"/>
          </a:xfrm>
          <a:prstGeom prst="rect">
            <a:avLst/>
          </a:prstGeom>
          <a:noFill/>
        </p:spPr>
        <p:txBody>
          <a:bodyPr wrap="square">
            <a:spAutoFit/>
          </a:bodyPr>
          <a:lstStyle/>
          <a:p>
            <a:pPr algn="l">
              <a:defRPr sz="1100" b="0">
                <a:solidFill>
                  <a:srgbClr val="6B7280"/>
                </a:solidFill>
              </a:defRPr>
            </a:pPr>
            <a:r>
              <a:t>鄂湘川三省及库区各区县</a:t>
            </a:r>
          </a:p>
        </p:txBody>
      </p:sp>
      <p:sp>
        <p:nvSpPr>
          <p:cNvPr id="33" name="TextBox 32"/>
          <p:cNvSpPr txBox="1"/>
          <p:nvPr/>
        </p:nvSpPr>
        <p:spPr>
          <a:xfrm>
            <a:off x="6858000" y="4069080"/>
            <a:ext cx="4754880" cy="320040"/>
          </a:xfrm>
          <a:prstGeom prst="rect">
            <a:avLst/>
          </a:prstGeom>
          <a:noFill/>
        </p:spPr>
        <p:txBody>
          <a:bodyPr wrap="square">
            <a:spAutoFit/>
          </a:bodyPr>
          <a:lstStyle/>
          <a:p>
            <a:pPr algn="l">
              <a:defRPr sz="1100" b="0">
                <a:solidFill>
                  <a:srgbClr val="1A1A1A"/>
                </a:solidFill>
              </a:defRPr>
            </a:pPr>
            <a:r>
              <a:t>利益诉求表达、移民安置协调</a:t>
            </a:r>
          </a:p>
        </p:txBody>
      </p:sp>
      <p:sp>
        <p:nvSpPr>
          <p:cNvPr id="34" name="Rectangle 33"/>
          <p:cNvSpPr/>
          <p:nvPr/>
        </p:nvSpPr>
        <p:spPr>
          <a:xfrm>
            <a:off x="914400" y="480060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498348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5166360"/>
            <a:ext cx="457200" cy="457200"/>
          </a:xfrm>
          <a:prstGeom prst="rect">
            <a:avLst/>
          </a:prstGeom>
          <a:noFill/>
        </p:spPr>
        <p:txBody>
          <a:bodyPr wrap="square">
            <a:spAutoFit/>
          </a:bodyPr>
          <a:lstStyle/>
          <a:p>
            <a:pPr algn="ctr">
              <a:defRPr sz="1500" b="1">
                <a:solidFill>
                  <a:srgbClr val="FFFFFF"/>
                </a:solidFill>
              </a:defRPr>
            </a:pPr>
            <a:r>
              <a:t>5</a:t>
            </a:r>
          </a:p>
        </p:txBody>
      </p:sp>
      <p:sp>
        <p:nvSpPr>
          <p:cNvPr id="37" name="Rectangle 36"/>
          <p:cNvSpPr/>
          <p:nvPr/>
        </p:nvSpPr>
        <p:spPr>
          <a:xfrm>
            <a:off x="914400" y="498348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074920"/>
            <a:ext cx="2286000" cy="320040"/>
          </a:xfrm>
          <a:prstGeom prst="rect">
            <a:avLst/>
          </a:prstGeom>
          <a:noFill/>
        </p:spPr>
        <p:txBody>
          <a:bodyPr wrap="square">
            <a:spAutoFit/>
          </a:bodyPr>
          <a:lstStyle/>
          <a:p>
            <a:pPr algn="l">
              <a:defRPr sz="1300" b="1">
                <a:solidFill>
                  <a:srgbClr val="1E3A5F"/>
                </a:solidFill>
              </a:defRPr>
            </a:pPr>
            <a:r>
              <a:t>基层群众</a:t>
            </a:r>
          </a:p>
        </p:txBody>
      </p:sp>
      <p:sp>
        <p:nvSpPr>
          <p:cNvPr id="39" name="TextBox 38"/>
          <p:cNvSpPr txBox="1"/>
          <p:nvPr/>
        </p:nvSpPr>
        <p:spPr>
          <a:xfrm>
            <a:off x="3474720" y="5074920"/>
            <a:ext cx="3200400" cy="320040"/>
          </a:xfrm>
          <a:prstGeom prst="rect">
            <a:avLst/>
          </a:prstGeom>
          <a:noFill/>
        </p:spPr>
        <p:txBody>
          <a:bodyPr wrap="square">
            <a:spAutoFit/>
          </a:bodyPr>
          <a:lstStyle/>
          <a:p>
            <a:pPr algn="l">
              <a:defRPr sz="1100" b="0">
                <a:solidFill>
                  <a:srgbClr val="6B7280"/>
                </a:solidFill>
              </a:defRPr>
            </a:pPr>
            <a:r>
              <a:t>100余人实地考察团</a:t>
            </a:r>
          </a:p>
        </p:txBody>
      </p:sp>
      <p:sp>
        <p:nvSpPr>
          <p:cNvPr id="40" name="TextBox 39"/>
          <p:cNvSpPr txBox="1"/>
          <p:nvPr/>
        </p:nvSpPr>
        <p:spPr>
          <a:xfrm>
            <a:off x="6858000" y="5074920"/>
            <a:ext cx="4754880" cy="320040"/>
          </a:xfrm>
          <a:prstGeom prst="rect">
            <a:avLst/>
          </a:prstGeom>
          <a:noFill/>
        </p:spPr>
        <p:txBody>
          <a:bodyPr wrap="square">
            <a:spAutoFit/>
          </a:bodyPr>
          <a:lstStyle/>
          <a:p>
            <a:pPr algn="l">
              <a:defRPr sz="1100" b="0">
                <a:solidFill>
                  <a:srgbClr val="1A1A1A"/>
                </a:solidFill>
              </a:defRPr>
            </a:pPr>
            <a:r>
              <a:t>实地调研、民意采集、需求反馈</a:t>
            </a:r>
          </a:p>
        </p:txBody>
      </p:sp>
      <p:sp>
        <p:nvSpPr>
          <p:cNvPr id="41" name="Rectangle 40"/>
          <p:cNvSpPr/>
          <p:nvPr/>
        </p:nvSpPr>
        <p:spPr>
          <a:xfrm>
            <a:off x="365760" y="5989320"/>
            <a:ext cx="11430000" cy="685800"/>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6108192"/>
            <a:ext cx="11064240" cy="548640"/>
          </a:xfrm>
          <a:prstGeom prst="rect">
            <a:avLst/>
          </a:prstGeom>
          <a:noFill/>
        </p:spPr>
        <p:txBody>
          <a:bodyPr wrap="square">
            <a:spAutoFit/>
          </a:bodyPr>
          <a:lstStyle/>
          <a:p>
            <a:pPr algn="l">
              <a:defRPr sz="1200" b="1">
                <a:solidFill>
                  <a:srgbClr val="1E3A5F"/>
                </a:solidFill>
              </a:defRPr>
            </a:pPr>
            <a:r>
              <a:t>"中央主导 + 专家论证 + 地方参与 + 群众表达"——四层协同的结构，既保证了决策效率，又确保了各方利益诉求的充分表达与回应。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03  群体决策机制分析  特征二：包容异议</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11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5120640" cy="365760"/>
          </a:xfrm>
          <a:prstGeom prst="rect">
            <a:avLst/>
          </a:prstGeom>
          <a:noFill/>
        </p:spPr>
        <p:txBody>
          <a:bodyPr wrap="square">
            <a:spAutoFit/>
          </a:bodyPr>
          <a:lstStyle/>
          <a:p>
            <a:pPr algn="l">
              <a:defRPr sz="1400" b="1">
                <a:solidFill>
                  <a:srgbClr val="D4583A"/>
                </a:solidFill>
              </a:defRPr>
            </a:pPr>
            <a:r>
              <a:t>反对意见的制度化表达</a:t>
            </a:r>
          </a:p>
        </p:txBody>
      </p:sp>
      <p:sp>
        <p:nvSpPr>
          <p:cNvPr id="10" name="Rectangle 9"/>
          <p:cNvSpPr/>
          <p:nvPr/>
        </p:nvSpPr>
        <p:spPr>
          <a:xfrm>
            <a:off x="548640" y="1417320"/>
            <a:ext cx="512064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120640" cy="1645920"/>
          </a:xfrm>
          <a:prstGeom prst="rect">
            <a:avLst/>
          </a:prstGeom>
          <a:noFill/>
        </p:spPr>
        <p:txBody>
          <a:bodyPr wrap="square">
            <a:spAutoFit/>
          </a:bodyPr>
          <a:lstStyle/>
          <a:p>
            <a:pPr algn="l">
              <a:defRPr sz="1100" b="0">
                <a:solidFill>
                  <a:srgbClr val="1A1A1A"/>
                </a:solidFill>
              </a:defRPr>
            </a:pPr>
            <a:r>
              <a:t>孙越崎率众实地考察后提交的长篇反对报告，系统阐述了反对的全部理由：泥沙淤积可能缩短水库寿命、诱发地质灾害风险、生态环境的不可逆影响、百万移民的社会稳定压力、巨额投资的机会成本……这份报告被如实提交给中央，异议没有被淡化或屏蔽。</a:t>
            </a:r>
          </a:p>
        </p:txBody>
      </p:sp>
      <p:sp>
        <p:nvSpPr>
          <p:cNvPr id="12" name="TextBox 11"/>
          <p:cNvSpPr txBox="1"/>
          <p:nvPr/>
        </p:nvSpPr>
        <p:spPr>
          <a:xfrm>
            <a:off x="548640" y="3200400"/>
            <a:ext cx="5120640" cy="1188720"/>
          </a:xfrm>
          <a:prstGeom prst="rect">
            <a:avLst/>
          </a:prstGeom>
          <a:noFill/>
        </p:spPr>
        <p:txBody>
          <a:bodyPr wrap="square">
            <a:spAutoFit/>
          </a:bodyPr>
          <a:lstStyle/>
          <a:p>
            <a:pPr algn="l">
              <a:defRPr sz="1100" b="0">
                <a:solidFill>
                  <a:srgbClr val="1A1A1A"/>
                </a:solidFill>
              </a:defRPr>
            </a:pPr>
            <a:r>
              <a:t>在论证会上，一位80多岁的老专家，代表三位年龄总和246岁的专家，明确表示不赞同近期建设。这段发言被完整记录，并连同其他反对意见一并印发给全体412位专家参考。</a:t>
            </a:r>
          </a:p>
        </p:txBody>
      </p:sp>
      <p:sp>
        <p:nvSpPr>
          <p:cNvPr id="13" name="TextBox 12"/>
          <p:cNvSpPr txBox="1"/>
          <p:nvPr/>
        </p:nvSpPr>
        <p:spPr>
          <a:xfrm>
            <a:off x="548640" y="4370832"/>
            <a:ext cx="5120640" cy="1188720"/>
          </a:xfrm>
          <a:prstGeom prst="rect">
            <a:avLst/>
          </a:prstGeom>
          <a:noFill/>
        </p:spPr>
        <p:txBody>
          <a:bodyPr wrap="square">
            <a:spAutoFit/>
          </a:bodyPr>
          <a:lstStyle/>
          <a:p>
            <a:pPr algn="l">
              <a:defRPr sz="1100" b="0">
                <a:solidFill>
                  <a:srgbClr val="1A1A1A"/>
                </a:solidFill>
              </a:defRPr>
            </a:pPr>
            <a:r>
              <a:t>这种做法在当时政治文化下相当难得。它体现了决策层"愿意听真话"的诚意，也证明了中国决策机制中确实存在"异议上达"的制度通道。</a:t>
            </a:r>
          </a:p>
        </p:txBody>
      </p:sp>
      <p:sp>
        <p:nvSpPr>
          <p:cNvPr id="14" name="Rectangle 13"/>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26480" y="914400"/>
            <a:ext cx="54864" cy="53035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051560"/>
            <a:ext cx="5303520" cy="365760"/>
          </a:xfrm>
          <a:prstGeom prst="rect">
            <a:avLst/>
          </a:prstGeom>
          <a:noFill/>
        </p:spPr>
        <p:txBody>
          <a:bodyPr wrap="square">
            <a:spAutoFit/>
          </a:bodyPr>
          <a:lstStyle/>
          <a:p>
            <a:pPr algn="l">
              <a:defRPr sz="1400" b="1">
                <a:solidFill>
                  <a:srgbClr val="1E3A5F"/>
                </a:solidFill>
              </a:defRPr>
            </a:pPr>
            <a:r>
              <a:t>回应质疑而非压制异议</a:t>
            </a:r>
          </a:p>
        </p:txBody>
      </p:sp>
      <p:sp>
        <p:nvSpPr>
          <p:cNvPr id="17" name="Rectangle 16"/>
          <p:cNvSpPr/>
          <p:nvPr/>
        </p:nvSpPr>
        <p:spPr>
          <a:xfrm>
            <a:off x="6309360" y="1417320"/>
            <a:ext cx="5303520" cy="18288"/>
          </a:xfrm>
          <a:prstGeom prst="rect">
            <a:avLst/>
          </a:prstGeom>
          <a:solidFill>
            <a:srgbClr val="5B9B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572768"/>
            <a:ext cx="5303520" cy="822960"/>
          </a:xfrm>
          <a:prstGeom prst="rect">
            <a:avLst/>
          </a:prstGeom>
          <a:noFill/>
        </p:spPr>
        <p:txBody>
          <a:bodyPr wrap="square">
            <a:spAutoFit/>
          </a:bodyPr>
          <a:lstStyle/>
          <a:p>
            <a:pPr algn="l">
              <a:defRPr sz="1100" b="0">
                <a:solidFill>
                  <a:srgbClr val="1A1A1A"/>
                </a:solidFill>
              </a:defRPr>
            </a:pPr>
            <a:r>
              <a:t>最终决策没有简单地以"票数"压倒反对意见，而是针对每项质疑组织专项研究：</a:t>
            </a:r>
          </a:p>
        </p:txBody>
      </p:sp>
      <p:sp>
        <p:nvSpPr>
          <p:cNvPr id="19" name="TextBox 18"/>
          <p:cNvSpPr txBox="1"/>
          <p:nvPr/>
        </p:nvSpPr>
        <p:spPr>
          <a:xfrm>
            <a:off x="6492240" y="2331720"/>
            <a:ext cx="5029200" cy="530352"/>
          </a:xfrm>
          <a:prstGeom prst="rect">
            <a:avLst/>
          </a:prstGeom>
          <a:noFill/>
        </p:spPr>
        <p:txBody>
          <a:bodyPr wrap="square">
            <a:spAutoFit/>
          </a:bodyPr>
          <a:lstStyle/>
          <a:p>
            <a:pPr algn="l">
              <a:defRPr sz="1100" b="0">
                <a:solidFill>
                  <a:srgbClr val="1A1A1A"/>
                </a:solidFill>
              </a:defRPr>
            </a:pPr>
            <a:r>
              <a:t>→ 针对泥沙淤积——组织数学模型研究，预测百年淤积情况</a:t>
            </a:r>
          </a:p>
        </p:txBody>
      </p:sp>
      <p:sp>
        <p:nvSpPr>
          <p:cNvPr id="20" name="TextBox 19"/>
          <p:cNvSpPr txBox="1"/>
          <p:nvPr/>
        </p:nvSpPr>
        <p:spPr>
          <a:xfrm>
            <a:off x="6492240" y="2898648"/>
            <a:ext cx="5029200" cy="530352"/>
          </a:xfrm>
          <a:prstGeom prst="rect">
            <a:avLst/>
          </a:prstGeom>
          <a:noFill/>
        </p:spPr>
        <p:txBody>
          <a:bodyPr wrap="square">
            <a:spAutoFit/>
          </a:bodyPr>
          <a:lstStyle/>
          <a:p>
            <a:pPr algn="l">
              <a:defRPr sz="1100" b="0">
                <a:solidFill>
                  <a:srgbClr val="1A1A1A"/>
                </a:solidFill>
              </a:defRPr>
            </a:pPr>
            <a:r>
              <a:t>→ 针对地震风险——进行详细地质勘探，制定监测预警方案</a:t>
            </a:r>
          </a:p>
        </p:txBody>
      </p:sp>
      <p:sp>
        <p:nvSpPr>
          <p:cNvPr id="21" name="TextBox 20"/>
          <p:cNvSpPr txBox="1"/>
          <p:nvPr/>
        </p:nvSpPr>
        <p:spPr>
          <a:xfrm>
            <a:off x="6492240" y="3465576"/>
            <a:ext cx="5029200" cy="530352"/>
          </a:xfrm>
          <a:prstGeom prst="rect">
            <a:avLst/>
          </a:prstGeom>
          <a:noFill/>
        </p:spPr>
        <p:txBody>
          <a:bodyPr wrap="square">
            <a:spAutoFit/>
          </a:bodyPr>
          <a:lstStyle/>
          <a:p>
            <a:pPr algn="l">
              <a:defRPr sz="1100" b="0">
                <a:solidFill>
                  <a:srgbClr val="1A1A1A"/>
                </a:solidFill>
              </a:defRPr>
            </a:pPr>
            <a:r>
              <a:t>→ 针对生态影响——制定珍稀动植物保护、库区治污等系列方案</a:t>
            </a:r>
          </a:p>
        </p:txBody>
      </p:sp>
      <p:sp>
        <p:nvSpPr>
          <p:cNvPr id="22" name="TextBox 21"/>
          <p:cNvSpPr txBox="1"/>
          <p:nvPr/>
        </p:nvSpPr>
        <p:spPr>
          <a:xfrm>
            <a:off x="6492240" y="4032504"/>
            <a:ext cx="5029200" cy="530352"/>
          </a:xfrm>
          <a:prstGeom prst="rect">
            <a:avLst/>
          </a:prstGeom>
          <a:noFill/>
        </p:spPr>
        <p:txBody>
          <a:bodyPr wrap="square">
            <a:spAutoFit/>
          </a:bodyPr>
          <a:lstStyle/>
          <a:p>
            <a:pPr algn="l">
              <a:defRPr sz="1100" b="0">
                <a:solidFill>
                  <a:srgbClr val="1A1A1A"/>
                </a:solidFill>
              </a:defRPr>
            </a:pPr>
            <a:r>
              <a:t>→ 针对移民压力——设计"搬得出、稳得住、能致富"的安置机制</a:t>
            </a:r>
          </a:p>
        </p:txBody>
      </p:sp>
      <p:sp>
        <p:nvSpPr>
          <p:cNvPr id="23" name="Rectangle 22"/>
          <p:cNvSpPr/>
          <p:nvPr/>
        </p:nvSpPr>
        <p:spPr>
          <a:xfrm>
            <a:off x="6309360" y="4663440"/>
            <a:ext cx="530352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4800600"/>
            <a:ext cx="5303520" cy="1188720"/>
          </a:xfrm>
          <a:prstGeom prst="rect">
            <a:avLst/>
          </a:prstGeom>
          <a:noFill/>
        </p:spPr>
        <p:txBody>
          <a:bodyPr wrap="square">
            <a:spAutoFit/>
          </a:bodyPr>
          <a:lstStyle/>
          <a:p>
            <a:pPr algn="l">
              <a:defRPr sz="1100" b="1">
                <a:solidFill>
                  <a:srgbClr val="1E3A5F"/>
                </a:solidFill>
              </a:defRPr>
            </a:pPr>
            <a:r>
              <a:t>"有反对、有回应、有调整"——这正是群体决策中"差异整合"的精髓：不是消除差异，而是在差异中发现更优解。反对意见从阻力变成了完善的动力。</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03  群体决策机制分析  特征三：科学支撑</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12 / 20</a:t>
            </a:r>
          </a:p>
        </p:txBody>
      </p:sp>
      <p:sp>
        <p:nvSpPr>
          <p:cNvPr id="7" name="Rectangle 6"/>
          <p:cNvSpPr/>
          <p:nvPr/>
        </p:nvSpPr>
        <p:spPr>
          <a:xfrm>
            <a:off x="36576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024128"/>
            <a:ext cx="2651760" cy="685800"/>
          </a:xfrm>
          <a:prstGeom prst="rect">
            <a:avLst/>
          </a:prstGeom>
          <a:noFill/>
        </p:spPr>
        <p:txBody>
          <a:bodyPr wrap="square">
            <a:spAutoFit/>
          </a:bodyPr>
          <a:lstStyle/>
          <a:p>
            <a:pPr algn="ctr">
              <a:defRPr sz="2600" b="1">
                <a:solidFill>
                  <a:srgbClr val="FFFFFF"/>
                </a:solidFill>
              </a:defRPr>
            </a:pPr>
            <a:r>
              <a:t>数千名</a:t>
            </a:r>
          </a:p>
        </p:txBody>
      </p:sp>
      <p:sp>
        <p:nvSpPr>
          <p:cNvPr id="9" name="TextBox 8"/>
          <p:cNvSpPr txBox="1"/>
          <p:nvPr/>
        </p:nvSpPr>
        <p:spPr>
          <a:xfrm>
            <a:off x="365760" y="1691640"/>
            <a:ext cx="2651760" cy="411480"/>
          </a:xfrm>
          <a:prstGeom prst="rect">
            <a:avLst/>
          </a:prstGeom>
          <a:noFill/>
        </p:spPr>
        <p:txBody>
          <a:bodyPr wrap="square">
            <a:spAutoFit/>
          </a:bodyPr>
          <a:lstStyle/>
          <a:p>
            <a:pPr algn="ctr">
              <a:defRPr sz="1200" b="0">
                <a:solidFill>
                  <a:srgbClr val="DDEEFF"/>
                </a:solidFill>
              </a:defRPr>
            </a:pPr>
            <a:r>
              <a:t>科技人员</a:t>
            </a:r>
          </a:p>
        </p:txBody>
      </p:sp>
      <p:sp>
        <p:nvSpPr>
          <p:cNvPr id="10" name="Rectangle 9"/>
          <p:cNvSpPr/>
          <p:nvPr/>
        </p:nvSpPr>
        <p:spPr>
          <a:xfrm>
            <a:off x="329184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91840" y="1024128"/>
            <a:ext cx="2651760" cy="685800"/>
          </a:xfrm>
          <a:prstGeom prst="rect">
            <a:avLst/>
          </a:prstGeom>
          <a:noFill/>
        </p:spPr>
        <p:txBody>
          <a:bodyPr wrap="square">
            <a:spAutoFit/>
          </a:bodyPr>
          <a:lstStyle/>
          <a:p>
            <a:pPr algn="ctr">
              <a:defRPr sz="2600" b="1">
                <a:solidFill>
                  <a:srgbClr val="FFFFFF"/>
                </a:solidFill>
              </a:defRPr>
            </a:pPr>
            <a:r>
              <a:t>400+项</a:t>
            </a:r>
          </a:p>
        </p:txBody>
      </p:sp>
      <p:sp>
        <p:nvSpPr>
          <p:cNvPr id="12" name="TextBox 11"/>
          <p:cNvSpPr txBox="1"/>
          <p:nvPr/>
        </p:nvSpPr>
        <p:spPr>
          <a:xfrm>
            <a:off x="3291840" y="1691640"/>
            <a:ext cx="2651760" cy="411480"/>
          </a:xfrm>
          <a:prstGeom prst="rect">
            <a:avLst/>
          </a:prstGeom>
          <a:noFill/>
        </p:spPr>
        <p:txBody>
          <a:bodyPr wrap="square">
            <a:spAutoFit/>
          </a:bodyPr>
          <a:lstStyle/>
          <a:p>
            <a:pPr algn="ctr">
              <a:defRPr sz="1200" b="0">
                <a:solidFill>
                  <a:srgbClr val="DDEEFF"/>
                </a:solidFill>
              </a:defRPr>
            </a:pPr>
            <a:r>
              <a:t>研究成果</a:t>
            </a:r>
          </a:p>
        </p:txBody>
      </p:sp>
      <p:sp>
        <p:nvSpPr>
          <p:cNvPr id="13" name="Rectangle 12"/>
          <p:cNvSpPr/>
          <p:nvPr/>
        </p:nvSpPr>
        <p:spPr>
          <a:xfrm>
            <a:off x="621792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024128"/>
            <a:ext cx="2651760" cy="685800"/>
          </a:xfrm>
          <a:prstGeom prst="rect">
            <a:avLst/>
          </a:prstGeom>
          <a:noFill/>
        </p:spPr>
        <p:txBody>
          <a:bodyPr wrap="square">
            <a:spAutoFit/>
          </a:bodyPr>
          <a:lstStyle/>
          <a:p>
            <a:pPr algn="ctr">
              <a:defRPr sz="2600" b="1">
                <a:solidFill>
                  <a:srgbClr val="FFFFFF"/>
                </a:solidFill>
              </a:defRPr>
            </a:pPr>
            <a:r>
              <a:t>14份</a:t>
            </a:r>
          </a:p>
        </p:txBody>
      </p:sp>
      <p:sp>
        <p:nvSpPr>
          <p:cNvPr id="15" name="TextBox 14"/>
          <p:cNvSpPr txBox="1"/>
          <p:nvPr/>
        </p:nvSpPr>
        <p:spPr>
          <a:xfrm>
            <a:off x="6217920" y="1691640"/>
            <a:ext cx="2651760" cy="411480"/>
          </a:xfrm>
          <a:prstGeom prst="rect">
            <a:avLst/>
          </a:prstGeom>
          <a:noFill/>
        </p:spPr>
        <p:txBody>
          <a:bodyPr wrap="square">
            <a:spAutoFit/>
          </a:bodyPr>
          <a:lstStyle/>
          <a:p>
            <a:pPr algn="ctr">
              <a:defRPr sz="1200" b="0">
                <a:solidFill>
                  <a:srgbClr val="DDEEFF"/>
                </a:solidFill>
              </a:defRPr>
            </a:pPr>
            <a:r>
              <a:t>专题报告</a:t>
            </a:r>
          </a:p>
        </p:txBody>
      </p:sp>
      <p:sp>
        <p:nvSpPr>
          <p:cNvPr id="16" name="Rectangle 15"/>
          <p:cNvSpPr/>
          <p:nvPr/>
        </p:nvSpPr>
        <p:spPr>
          <a:xfrm>
            <a:off x="9144000" y="960120"/>
            <a:ext cx="2651760" cy="118872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0" y="1024128"/>
            <a:ext cx="2651760" cy="685800"/>
          </a:xfrm>
          <a:prstGeom prst="rect">
            <a:avLst/>
          </a:prstGeom>
          <a:noFill/>
        </p:spPr>
        <p:txBody>
          <a:bodyPr wrap="square">
            <a:spAutoFit/>
          </a:bodyPr>
          <a:lstStyle/>
          <a:p>
            <a:pPr algn="ctr">
              <a:defRPr sz="2600" b="1">
                <a:solidFill>
                  <a:srgbClr val="FFFFFF"/>
                </a:solidFill>
              </a:defRPr>
            </a:pPr>
            <a:r>
              <a:t>7大本</a:t>
            </a:r>
          </a:p>
        </p:txBody>
      </p:sp>
      <p:sp>
        <p:nvSpPr>
          <p:cNvPr id="18" name="TextBox 17"/>
          <p:cNvSpPr txBox="1"/>
          <p:nvPr/>
        </p:nvSpPr>
        <p:spPr>
          <a:xfrm>
            <a:off x="9144000" y="1691640"/>
            <a:ext cx="2651760" cy="411480"/>
          </a:xfrm>
          <a:prstGeom prst="rect">
            <a:avLst/>
          </a:prstGeom>
          <a:noFill/>
        </p:spPr>
        <p:txBody>
          <a:bodyPr wrap="square">
            <a:spAutoFit/>
          </a:bodyPr>
          <a:lstStyle/>
          <a:p>
            <a:pPr algn="ctr">
              <a:defRPr sz="1200" b="0">
                <a:solidFill>
                  <a:srgbClr val="DDEEFF"/>
                </a:solidFill>
              </a:defRPr>
            </a:pPr>
            <a:r>
              <a:t>异议资料</a:t>
            </a:r>
          </a:p>
        </p:txBody>
      </p:sp>
      <p:sp>
        <p:nvSpPr>
          <p:cNvPr id="19" name="Rectangle 18"/>
          <p:cNvSpPr/>
          <p:nvPr/>
        </p:nvSpPr>
        <p:spPr>
          <a:xfrm>
            <a:off x="365760" y="2331720"/>
            <a:ext cx="11457432" cy="374903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2487168"/>
            <a:ext cx="11064240" cy="822960"/>
          </a:xfrm>
          <a:prstGeom prst="rect">
            <a:avLst/>
          </a:prstGeom>
          <a:noFill/>
        </p:spPr>
        <p:txBody>
          <a:bodyPr wrap="square">
            <a:spAutoFit/>
          </a:bodyPr>
          <a:lstStyle/>
          <a:p>
            <a:pPr algn="l">
              <a:defRPr sz="1200" b="0">
                <a:solidFill>
                  <a:srgbClr val="1A1A1A"/>
                </a:solidFill>
              </a:defRPr>
            </a:pPr>
            <a:r>
              <a:t>三峡工程决策不是简单的政治表决或民意调查，而是建立在坚实的科学基础上。14个专题论证报告，每一份都是系统工程的研究成果：</a:t>
            </a:r>
          </a:p>
        </p:txBody>
      </p:sp>
      <p:sp>
        <p:nvSpPr>
          <p:cNvPr id="21" name="Rectangle 20"/>
          <p:cNvSpPr/>
          <p:nvPr/>
        </p:nvSpPr>
        <p:spPr>
          <a:xfrm>
            <a:off x="54864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264408"/>
            <a:ext cx="201168" cy="182880"/>
          </a:xfrm>
          <a:prstGeom prst="rect">
            <a:avLst/>
          </a:prstGeom>
          <a:noFill/>
        </p:spPr>
        <p:txBody>
          <a:bodyPr wrap="square">
            <a:spAutoFit/>
          </a:bodyPr>
          <a:lstStyle/>
          <a:p>
            <a:pPr algn="ctr">
              <a:defRPr sz="900" b="1">
                <a:solidFill>
                  <a:srgbClr val="FFFFFF"/>
                </a:solidFill>
              </a:defRPr>
            </a:pPr>
            <a:r>
              <a:t>1</a:t>
            </a:r>
          </a:p>
        </p:txBody>
      </p:sp>
      <p:sp>
        <p:nvSpPr>
          <p:cNvPr id="23" name="TextBox 22"/>
          <p:cNvSpPr txBox="1"/>
          <p:nvPr/>
        </p:nvSpPr>
        <p:spPr>
          <a:xfrm>
            <a:off x="841247" y="3246120"/>
            <a:ext cx="2487168" cy="384048"/>
          </a:xfrm>
          <a:prstGeom prst="rect">
            <a:avLst/>
          </a:prstGeom>
          <a:noFill/>
        </p:spPr>
        <p:txBody>
          <a:bodyPr wrap="square">
            <a:spAutoFit/>
          </a:bodyPr>
          <a:lstStyle/>
          <a:p>
            <a:pPr algn="l">
              <a:defRPr sz="1100" b="0">
                <a:solidFill>
                  <a:srgbClr val="1A1A1A"/>
                </a:solidFill>
              </a:defRPr>
            </a:pPr>
            <a:r>
              <a:t>地质地震安全性评价</a:t>
            </a:r>
          </a:p>
        </p:txBody>
      </p:sp>
      <p:sp>
        <p:nvSpPr>
          <p:cNvPr id="24" name="Rectangle 23"/>
          <p:cNvSpPr/>
          <p:nvPr/>
        </p:nvSpPr>
        <p:spPr>
          <a:xfrm>
            <a:off x="338328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83280" y="3264408"/>
            <a:ext cx="201168" cy="182880"/>
          </a:xfrm>
          <a:prstGeom prst="rect">
            <a:avLst/>
          </a:prstGeom>
          <a:noFill/>
        </p:spPr>
        <p:txBody>
          <a:bodyPr wrap="square">
            <a:spAutoFit/>
          </a:bodyPr>
          <a:lstStyle/>
          <a:p>
            <a:pPr algn="ctr">
              <a:defRPr sz="900" b="1">
                <a:solidFill>
                  <a:srgbClr val="FFFFFF"/>
                </a:solidFill>
              </a:defRPr>
            </a:pPr>
            <a:r>
              <a:t>2</a:t>
            </a:r>
          </a:p>
        </p:txBody>
      </p:sp>
      <p:sp>
        <p:nvSpPr>
          <p:cNvPr id="26" name="TextBox 25"/>
          <p:cNvSpPr txBox="1"/>
          <p:nvPr/>
        </p:nvSpPr>
        <p:spPr>
          <a:xfrm>
            <a:off x="3675888" y="3246120"/>
            <a:ext cx="2487168" cy="384048"/>
          </a:xfrm>
          <a:prstGeom prst="rect">
            <a:avLst/>
          </a:prstGeom>
          <a:noFill/>
        </p:spPr>
        <p:txBody>
          <a:bodyPr wrap="square">
            <a:spAutoFit/>
          </a:bodyPr>
          <a:lstStyle/>
          <a:p>
            <a:pPr algn="l">
              <a:defRPr sz="1100" b="0">
                <a:solidFill>
                  <a:srgbClr val="1A1A1A"/>
                </a:solidFill>
              </a:defRPr>
            </a:pPr>
            <a:r>
              <a:t>水库泥沙淤积预测</a:t>
            </a:r>
          </a:p>
        </p:txBody>
      </p:sp>
      <p:sp>
        <p:nvSpPr>
          <p:cNvPr id="27" name="Rectangle 26"/>
          <p:cNvSpPr/>
          <p:nvPr/>
        </p:nvSpPr>
        <p:spPr>
          <a:xfrm>
            <a:off x="621792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17920" y="3264408"/>
            <a:ext cx="201168" cy="182880"/>
          </a:xfrm>
          <a:prstGeom prst="rect">
            <a:avLst/>
          </a:prstGeom>
          <a:noFill/>
        </p:spPr>
        <p:txBody>
          <a:bodyPr wrap="square">
            <a:spAutoFit/>
          </a:bodyPr>
          <a:lstStyle/>
          <a:p>
            <a:pPr algn="ctr">
              <a:defRPr sz="900" b="1">
                <a:solidFill>
                  <a:srgbClr val="FFFFFF"/>
                </a:solidFill>
              </a:defRPr>
            </a:pPr>
            <a:r>
              <a:t>3</a:t>
            </a:r>
          </a:p>
        </p:txBody>
      </p:sp>
      <p:sp>
        <p:nvSpPr>
          <p:cNvPr id="29" name="TextBox 28"/>
          <p:cNvSpPr txBox="1"/>
          <p:nvPr/>
        </p:nvSpPr>
        <p:spPr>
          <a:xfrm>
            <a:off x="6510528" y="3246120"/>
            <a:ext cx="2487168" cy="384048"/>
          </a:xfrm>
          <a:prstGeom prst="rect">
            <a:avLst/>
          </a:prstGeom>
          <a:noFill/>
        </p:spPr>
        <p:txBody>
          <a:bodyPr wrap="square">
            <a:spAutoFit/>
          </a:bodyPr>
          <a:lstStyle/>
          <a:p>
            <a:pPr algn="l">
              <a:defRPr sz="1100" b="0">
                <a:solidFill>
                  <a:srgbClr val="1A1A1A"/>
                </a:solidFill>
              </a:defRPr>
            </a:pPr>
            <a:r>
              <a:t>库区生态环境影响评估</a:t>
            </a:r>
          </a:p>
        </p:txBody>
      </p:sp>
      <p:sp>
        <p:nvSpPr>
          <p:cNvPr id="30" name="Rectangle 29"/>
          <p:cNvSpPr/>
          <p:nvPr/>
        </p:nvSpPr>
        <p:spPr>
          <a:xfrm>
            <a:off x="9052560" y="3246120"/>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52560" y="3264408"/>
            <a:ext cx="201168" cy="182880"/>
          </a:xfrm>
          <a:prstGeom prst="rect">
            <a:avLst/>
          </a:prstGeom>
          <a:noFill/>
        </p:spPr>
        <p:txBody>
          <a:bodyPr wrap="square">
            <a:spAutoFit/>
          </a:bodyPr>
          <a:lstStyle/>
          <a:p>
            <a:pPr algn="ctr">
              <a:defRPr sz="900" b="1">
                <a:solidFill>
                  <a:srgbClr val="FFFFFF"/>
                </a:solidFill>
              </a:defRPr>
            </a:pPr>
            <a:r>
              <a:t>4</a:t>
            </a:r>
          </a:p>
        </p:txBody>
      </p:sp>
      <p:sp>
        <p:nvSpPr>
          <p:cNvPr id="32" name="TextBox 31"/>
          <p:cNvSpPr txBox="1"/>
          <p:nvPr/>
        </p:nvSpPr>
        <p:spPr>
          <a:xfrm>
            <a:off x="9345168" y="3246120"/>
            <a:ext cx="2487168" cy="384048"/>
          </a:xfrm>
          <a:prstGeom prst="rect">
            <a:avLst/>
          </a:prstGeom>
          <a:noFill/>
        </p:spPr>
        <p:txBody>
          <a:bodyPr wrap="square">
            <a:spAutoFit/>
          </a:bodyPr>
          <a:lstStyle/>
          <a:p>
            <a:pPr algn="l">
              <a:defRPr sz="1100" b="0">
                <a:solidFill>
                  <a:srgbClr val="1A1A1A"/>
                </a:solidFill>
              </a:defRPr>
            </a:pPr>
            <a:r>
              <a:t>百万移民安置方案设计</a:t>
            </a:r>
          </a:p>
        </p:txBody>
      </p:sp>
      <p:sp>
        <p:nvSpPr>
          <p:cNvPr id="33" name="Rectangle 32"/>
          <p:cNvSpPr/>
          <p:nvPr/>
        </p:nvSpPr>
        <p:spPr>
          <a:xfrm>
            <a:off x="54864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739896"/>
            <a:ext cx="201168" cy="182880"/>
          </a:xfrm>
          <a:prstGeom prst="rect">
            <a:avLst/>
          </a:prstGeom>
          <a:noFill/>
        </p:spPr>
        <p:txBody>
          <a:bodyPr wrap="square">
            <a:spAutoFit/>
          </a:bodyPr>
          <a:lstStyle/>
          <a:p>
            <a:pPr algn="ctr">
              <a:defRPr sz="900" b="1">
                <a:solidFill>
                  <a:srgbClr val="FFFFFF"/>
                </a:solidFill>
              </a:defRPr>
            </a:pPr>
            <a:r>
              <a:t>5</a:t>
            </a:r>
          </a:p>
        </p:txBody>
      </p:sp>
      <p:sp>
        <p:nvSpPr>
          <p:cNvPr id="35" name="TextBox 34"/>
          <p:cNvSpPr txBox="1"/>
          <p:nvPr/>
        </p:nvSpPr>
        <p:spPr>
          <a:xfrm>
            <a:off x="841247" y="3721608"/>
            <a:ext cx="2487168" cy="384048"/>
          </a:xfrm>
          <a:prstGeom prst="rect">
            <a:avLst/>
          </a:prstGeom>
          <a:noFill/>
        </p:spPr>
        <p:txBody>
          <a:bodyPr wrap="square">
            <a:spAutoFit/>
          </a:bodyPr>
          <a:lstStyle/>
          <a:p>
            <a:pPr algn="l">
              <a:defRPr sz="1100" b="0">
                <a:solidFill>
                  <a:srgbClr val="1A1A1A"/>
                </a:solidFill>
              </a:defRPr>
            </a:pPr>
            <a:r>
              <a:t>工程建设技术可行性研究</a:t>
            </a:r>
          </a:p>
        </p:txBody>
      </p:sp>
      <p:sp>
        <p:nvSpPr>
          <p:cNvPr id="36" name="Rectangle 35"/>
          <p:cNvSpPr/>
          <p:nvPr/>
        </p:nvSpPr>
        <p:spPr>
          <a:xfrm>
            <a:off x="338328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83280" y="3739896"/>
            <a:ext cx="201168" cy="182880"/>
          </a:xfrm>
          <a:prstGeom prst="rect">
            <a:avLst/>
          </a:prstGeom>
          <a:noFill/>
        </p:spPr>
        <p:txBody>
          <a:bodyPr wrap="square">
            <a:spAutoFit/>
          </a:bodyPr>
          <a:lstStyle/>
          <a:p>
            <a:pPr algn="ctr">
              <a:defRPr sz="900" b="1">
                <a:solidFill>
                  <a:srgbClr val="FFFFFF"/>
                </a:solidFill>
              </a:defRPr>
            </a:pPr>
            <a:r>
              <a:t>6</a:t>
            </a:r>
          </a:p>
        </p:txBody>
      </p:sp>
      <p:sp>
        <p:nvSpPr>
          <p:cNvPr id="38" name="TextBox 37"/>
          <p:cNvSpPr txBox="1"/>
          <p:nvPr/>
        </p:nvSpPr>
        <p:spPr>
          <a:xfrm>
            <a:off x="3675888" y="3721608"/>
            <a:ext cx="2487168" cy="384048"/>
          </a:xfrm>
          <a:prstGeom prst="rect">
            <a:avLst/>
          </a:prstGeom>
          <a:noFill/>
        </p:spPr>
        <p:txBody>
          <a:bodyPr wrap="square">
            <a:spAutoFit/>
          </a:bodyPr>
          <a:lstStyle/>
          <a:p>
            <a:pPr algn="l">
              <a:defRPr sz="1100" b="0">
                <a:solidFill>
                  <a:srgbClr val="1A1A1A"/>
                </a:solidFill>
              </a:defRPr>
            </a:pPr>
            <a:r>
              <a:t>防洪发电航运综合效益分析</a:t>
            </a:r>
          </a:p>
        </p:txBody>
      </p:sp>
      <p:sp>
        <p:nvSpPr>
          <p:cNvPr id="39" name="Rectangle 38"/>
          <p:cNvSpPr/>
          <p:nvPr/>
        </p:nvSpPr>
        <p:spPr>
          <a:xfrm>
            <a:off x="621792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0" y="3739896"/>
            <a:ext cx="201168" cy="182880"/>
          </a:xfrm>
          <a:prstGeom prst="rect">
            <a:avLst/>
          </a:prstGeom>
          <a:noFill/>
        </p:spPr>
        <p:txBody>
          <a:bodyPr wrap="square">
            <a:spAutoFit/>
          </a:bodyPr>
          <a:lstStyle/>
          <a:p>
            <a:pPr algn="ctr">
              <a:defRPr sz="900" b="1">
                <a:solidFill>
                  <a:srgbClr val="FFFFFF"/>
                </a:solidFill>
              </a:defRPr>
            </a:pPr>
            <a:r>
              <a:t>7</a:t>
            </a:r>
          </a:p>
        </p:txBody>
      </p:sp>
      <p:sp>
        <p:nvSpPr>
          <p:cNvPr id="41" name="TextBox 40"/>
          <p:cNvSpPr txBox="1"/>
          <p:nvPr/>
        </p:nvSpPr>
        <p:spPr>
          <a:xfrm>
            <a:off x="6510528" y="3721608"/>
            <a:ext cx="2487168" cy="384048"/>
          </a:xfrm>
          <a:prstGeom prst="rect">
            <a:avLst/>
          </a:prstGeom>
          <a:noFill/>
        </p:spPr>
        <p:txBody>
          <a:bodyPr wrap="square">
            <a:spAutoFit/>
          </a:bodyPr>
          <a:lstStyle/>
          <a:p>
            <a:pPr algn="l">
              <a:defRPr sz="1100" b="0">
                <a:solidFill>
                  <a:srgbClr val="1A1A1A"/>
                </a:solidFill>
              </a:defRPr>
            </a:pPr>
            <a:r>
              <a:t>投资经济评价与资金筹措</a:t>
            </a:r>
          </a:p>
        </p:txBody>
      </p:sp>
      <p:sp>
        <p:nvSpPr>
          <p:cNvPr id="42" name="Rectangle 41"/>
          <p:cNvSpPr/>
          <p:nvPr/>
        </p:nvSpPr>
        <p:spPr>
          <a:xfrm>
            <a:off x="9052560" y="3721608"/>
            <a:ext cx="201168" cy="201168"/>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052560" y="3739896"/>
            <a:ext cx="201168" cy="182880"/>
          </a:xfrm>
          <a:prstGeom prst="rect">
            <a:avLst/>
          </a:prstGeom>
          <a:noFill/>
        </p:spPr>
        <p:txBody>
          <a:bodyPr wrap="square">
            <a:spAutoFit/>
          </a:bodyPr>
          <a:lstStyle/>
          <a:p>
            <a:pPr algn="ctr">
              <a:defRPr sz="900" b="1">
                <a:solidFill>
                  <a:srgbClr val="FFFFFF"/>
                </a:solidFill>
              </a:defRPr>
            </a:pPr>
            <a:r>
              <a:t>8</a:t>
            </a:r>
          </a:p>
        </p:txBody>
      </p:sp>
      <p:sp>
        <p:nvSpPr>
          <p:cNvPr id="44" name="TextBox 43"/>
          <p:cNvSpPr txBox="1"/>
          <p:nvPr/>
        </p:nvSpPr>
        <p:spPr>
          <a:xfrm>
            <a:off x="9345168" y="3721608"/>
            <a:ext cx="2487168" cy="384048"/>
          </a:xfrm>
          <a:prstGeom prst="rect">
            <a:avLst/>
          </a:prstGeom>
          <a:noFill/>
        </p:spPr>
        <p:txBody>
          <a:bodyPr wrap="square">
            <a:spAutoFit/>
          </a:bodyPr>
          <a:lstStyle/>
          <a:p>
            <a:pPr algn="l">
              <a:defRPr sz="1100" b="0">
                <a:solidFill>
                  <a:srgbClr val="1A1A1A"/>
                </a:solidFill>
              </a:defRPr>
            </a:pPr>
            <a:r>
              <a:t>库区淹没损失与补偿标准</a:t>
            </a:r>
          </a:p>
        </p:txBody>
      </p:sp>
      <p:sp>
        <p:nvSpPr>
          <p:cNvPr id="45" name="Rectangle 44"/>
          <p:cNvSpPr/>
          <p:nvPr/>
        </p:nvSpPr>
        <p:spPr>
          <a:xfrm>
            <a:off x="548640" y="4224528"/>
            <a:ext cx="11064240" cy="18288"/>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 y="4361688"/>
            <a:ext cx="11064240" cy="1188720"/>
          </a:xfrm>
          <a:prstGeom prst="rect">
            <a:avLst/>
          </a:prstGeom>
          <a:noFill/>
        </p:spPr>
        <p:txBody>
          <a:bodyPr wrap="square">
            <a:spAutoFit/>
          </a:bodyPr>
          <a:lstStyle/>
          <a:p>
            <a:pPr algn="l">
              <a:defRPr sz="1200" b="0">
                <a:solidFill>
                  <a:srgbClr val="1A1A1A"/>
                </a:solidFill>
              </a:defRPr>
            </a:pPr>
            <a:r>
              <a:t>"好处最大、坏处最小"——这是三峡论证的核心准则。所有方案都经过了严格的量化比较，每个数字背后都有模型推演和实地数据的支撑。这种"证据驱动"的决策模式，是群体决策区别于简单"少数服从多数"的关键标志。</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03  群体决策机制分析  特征四：民主集中</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13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5120640" cy="365760"/>
          </a:xfrm>
          <a:prstGeom prst="rect">
            <a:avLst/>
          </a:prstGeom>
          <a:noFill/>
        </p:spPr>
        <p:txBody>
          <a:bodyPr wrap="square">
            <a:spAutoFit/>
          </a:bodyPr>
          <a:lstStyle/>
          <a:p>
            <a:pPr algn="l">
              <a:defRPr sz="1400" b="1">
                <a:solidFill>
                  <a:srgbClr val="1E3A5F"/>
                </a:solidFill>
              </a:defRPr>
            </a:pPr>
            <a:r>
              <a:t>民主：充分讨论阶段</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120640" cy="731520"/>
          </a:xfrm>
          <a:prstGeom prst="rect">
            <a:avLst/>
          </a:prstGeom>
          <a:noFill/>
        </p:spPr>
        <p:txBody>
          <a:bodyPr wrap="square">
            <a:spAutoFit/>
          </a:bodyPr>
          <a:lstStyle/>
          <a:p>
            <a:pPr algn="l">
              <a:defRPr sz="1100" b="0">
                <a:solidFill>
                  <a:srgbClr val="1A1A1A"/>
                </a:solidFill>
              </a:defRPr>
            </a:pPr>
            <a:r>
              <a:t>从1986年重新论证到1992年全国人大投票，决策过程充分体现了"先民主后集中"的原则：</a:t>
            </a:r>
          </a:p>
        </p:txBody>
      </p:sp>
      <p:sp>
        <p:nvSpPr>
          <p:cNvPr id="12" name="TextBox 11"/>
          <p:cNvSpPr txBox="1"/>
          <p:nvPr/>
        </p:nvSpPr>
        <p:spPr>
          <a:xfrm>
            <a:off x="731520" y="2286000"/>
            <a:ext cx="1371600" cy="438912"/>
          </a:xfrm>
          <a:prstGeom prst="rect">
            <a:avLst/>
          </a:prstGeom>
          <a:noFill/>
        </p:spPr>
        <p:txBody>
          <a:bodyPr wrap="square">
            <a:spAutoFit/>
          </a:bodyPr>
          <a:lstStyle/>
          <a:p>
            <a:pPr algn="l">
              <a:defRPr sz="1100" b="1">
                <a:solidFill>
                  <a:srgbClr val="1E3A5F"/>
                </a:solidFill>
              </a:defRPr>
            </a:pPr>
            <a:r>
              <a:t>第1步（论证阶段）：</a:t>
            </a:r>
          </a:p>
        </p:txBody>
      </p:sp>
      <p:sp>
        <p:nvSpPr>
          <p:cNvPr id="13" name="TextBox 12"/>
          <p:cNvSpPr txBox="1"/>
          <p:nvPr/>
        </p:nvSpPr>
        <p:spPr>
          <a:xfrm>
            <a:off x="2103120" y="2286000"/>
            <a:ext cx="3383280" cy="438912"/>
          </a:xfrm>
          <a:prstGeom prst="rect">
            <a:avLst/>
          </a:prstGeom>
          <a:noFill/>
        </p:spPr>
        <p:txBody>
          <a:bodyPr wrap="square">
            <a:spAutoFit/>
          </a:bodyPr>
          <a:lstStyle/>
          <a:p>
            <a:pPr algn="l">
              <a:defRPr sz="1100" b="0">
                <a:solidFill>
                  <a:srgbClr val="1A1A1A"/>
                </a:solidFill>
              </a:defRPr>
            </a:pPr>
            <a:r>
              <a:t>鼓励不同意见表达和争论，允许公开辩论</a:t>
            </a:r>
          </a:p>
        </p:txBody>
      </p:sp>
      <p:sp>
        <p:nvSpPr>
          <p:cNvPr id="14" name="TextBox 13"/>
          <p:cNvSpPr txBox="1"/>
          <p:nvPr/>
        </p:nvSpPr>
        <p:spPr>
          <a:xfrm>
            <a:off x="731520" y="2761488"/>
            <a:ext cx="1371600" cy="438912"/>
          </a:xfrm>
          <a:prstGeom prst="rect">
            <a:avLst/>
          </a:prstGeom>
          <a:noFill/>
        </p:spPr>
        <p:txBody>
          <a:bodyPr wrap="square">
            <a:spAutoFit/>
          </a:bodyPr>
          <a:lstStyle/>
          <a:p>
            <a:pPr algn="l">
              <a:defRPr sz="1100" b="1">
                <a:solidFill>
                  <a:srgbClr val="1E3A5F"/>
                </a:solidFill>
              </a:defRPr>
            </a:pPr>
            <a:r>
              <a:t>第2步（方案阶段）：</a:t>
            </a:r>
          </a:p>
        </p:txBody>
      </p:sp>
      <p:sp>
        <p:nvSpPr>
          <p:cNvPr id="15" name="TextBox 14"/>
          <p:cNvSpPr txBox="1"/>
          <p:nvPr/>
        </p:nvSpPr>
        <p:spPr>
          <a:xfrm>
            <a:off x="2103120" y="2761488"/>
            <a:ext cx="3383280" cy="438912"/>
          </a:xfrm>
          <a:prstGeom prst="rect">
            <a:avLst/>
          </a:prstGeom>
          <a:noFill/>
        </p:spPr>
        <p:txBody>
          <a:bodyPr wrap="square">
            <a:spAutoFit/>
          </a:bodyPr>
          <a:lstStyle/>
          <a:p>
            <a:pPr algn="l">
              <a:defRPr sz="1100" b="0">
                <a:solidFill>
                  <a:srgbClr val="1A1A1A"/>
                </a:solidFill>
              </a:defRPr>
            </a:pPr>
            <a:r>
              <a:t>组织多轮专家评审和方案比选</a:t>
            </a:r>
          </a:p>
        </p:txBody>
      </p:sp>
      <p:sp>
        <p:nvSpPr>
          <p:cNvPr id="16" name="TextBox 15"/>
          <p:cNvSpPr txBox="1"/>
          <p:nvPr/>
        </p:nvSpPr>
        <p:spPr>
          <a:xfrm>
            <a:off x="731520" y="3236976"/>
            <a:ext cx="1371600" cy="438912"/>
          </a:xfrm>
          <a:prstGeom prst="rect">
            <a:avLst/>
          </a:prstGeom>
          <a:noFill/>
        </p:spPr>
        <p:txBody>
          <a:bodyPr wrap="square">
            <a:spAutoFit/>
          </a:bodyPr>
          <a:lstStyle/>
          <a:p>
            <a:pPr algn="l">
              <a:defRPr sz="1100" b="1">
                <a:solidFill>
                  <a:srgbClr val="1E3A5F"/>
                </a:solidFill>
              </a:defRPr>
            </a:pPr>
            <a:r>
              <a:t>第3步（上报阶段）：</a:t>
            </a:r>
          </a:p>
        </p:txBody>
      </p:sp>
      <p:sp>
        <p:nvSpPr>
          <p:cNvPr id="17" name="TextBox 16"/>
          <p:cNvSpPr txBox="1"/>
          <p:nvPr/>
        </p:nvSpPr>
        <p:spPr>
          <a:xfrm>
            <a:off x="2103120" y="3236976"/>
            <a:ext cx="3383280" cy="438912"/>
          </a:xfrm>
          <a:prstGeom prst="rect">
            <a:avLst/>
          </a:prstGeom>
          <a:noFill/>
        </p:spPr>
        <p:txBody>
          <a:bodyPr wrap="square">
            <a:spAutoFit/>
          </a:bodyPr>
          <a:lstStyle/>
          <a:p>
            <a:pPr algn="l">
              <a:defRPr sz="1100" b="0">
                <a:solidFill>
                  <a:srgbClr val="1A1A1A"/>
                </a:solidFill>
              </a:defRPr>
            </a:pPr>
            <a:r>
              <a:t>国务院审查通过后再提交人大</a:t>
            </a:r>
          </a:p>
        </p:txBody>
      </p:sp>
      <p:sp>
        <p:nvSpPr>
          <p:cNvPr id="18" name="TextBox 17"/>
          <p:cNvSpPr txBox="1"/>
          <p:nvPr/>
        </p:nvSpPr>
        <p:spPr>
          <a:xfrm>
            <a:off x="548640" y="3749039"/>
            <a:ext cx="5120640" cy="1097280"/>
          </a:xfrm>
          <a:prstGeom prst="rect">
            <a:avLst/>
          </a:prstGeom>
          <a:noFill/>
        </p:spPr>
        <p:txBody>
          <a:bodyPr wrap="square">
            <a:spAutoFit/>
          </a:bodyPr>
          <a:lstStyle/>
          <a:p>
            <a:pPr algn="l">
              <a:defRPr sz="1100" b="0">
                <a:solidFill>
                  <a:srgbClr val="1A1A1A"/>
                </a:solidFill>
              </a:defRPr>
            </a:pPr>
            <a:r>
              <a:t>人大代表来自各地区、各行业，代表面极其广泛。全国人大审议这一程序，为三峡工程提供了充分的民主合法性基础。</a:t>
            </a:r>
          </a:p>
        </p:txBody>
      </p:sp>
      <p:sp>
        <p:nvSpPr>
          <p:cNvPr id="19" name="Rectangle 18"/>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1051560"/>
            <a:ext cx="5303520" cy="365760"/>
          </a:xfrm>
          <a:prstGeom prst="rect">
            <a:avLst/>
          </a:prstGeom>
          <a:noFill/>
        </p:spPr>
        <p:txBody>
          <a:bodyPr wrap="square">
            <a:spAutoFit/>
          </a:bodyPr>
          <a:lstStyle/>
          <a:p>
            <a:pPr algn="l">
              <a:defRPr sz="1400" b="1">
                <a:solidFill>
                  <a:srgbClr val="D4583A"/>
                </a:solidFill>
              </a:defRPr>
            </a:pPr>
            <a:r>
              <a:t>集中：统一决策阶段</a:t>
            </a:r>
          </a:p>
        </p:txBody>
      </p:sp>
      <p:sp>
        <p:nvSpPr>
          <p:cNvPr id="22" name="Rectangle 21"/>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1572768"/>
            <a:ext cx="5303520" cy="1645920"/>
          </a:xfrm>
          <a:prstGeom prst="rect">
            <a:avLst/>
          </a:prstGeom>
          <a:noFill/>
        </p:spPr>
        <p:txBody>
          <a:bodyPr wrap="square">
            <a:spAutoFit/>
          </a:bodyPr>
          <a:lstStyle/>
          <a:p>
            <a:pPr algn="l">
              <a:defRPr sz="1100" b="0">
                <a:solidFill>
                  <a:srgbClr val="1A1A1A"/>
                </a:solidFill>
              </a:defRPr>
            </a:pPr>
            <a:r>
              <a:t>在充分讨论的基础上，最终由全国人大代表做出统一决策。虽然仍有177票反对、664票弃权，但一旦形成决议，各方都必须遵守和执行。这种"民主基础上的集中"，既保证了决策质量，又保证了执行效率。</a:t>
            </a:r>
          </a:p>
        </p:txBody>
      </p:sp>
      <p:sp>
        <p:nvSpPr>
          <p:cNvPr id="24" name="Rectangle 23"/>
          <p:cNvSpPr/>
          <p:nvPr/>
        </p:nvSpPr>
        <p:spPr>
          <a:xfrm>
            <a:off x="6492240" y="3246120"/>
            <a:ext cx="5120640" cy="731520"/>
          </a:xfrm>
          <a:prstGeom prst="rect">
            <a:avLst/>
          </a:prstGeom>
          <a:solidFill>
            <a:srgbClr val="FFF5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291840"/>
            <a:ext cx="5120640" cy="274320"/>
          </a:xfrm>
          <a:prstGeom prst="rect">
            <a:avLst/>
          </a:prstGeom>
          <a:noFill/>
        </p:spPr>
        <p:txBody>
          <a:bodyPr wrap="square">
            <a:spAutoFit/>
          </a:bodyPr>
          <a:lstStyle/>
          <a:p>
            <a:pPr algn="ctr">
              <a:defRPr sz="1200" b="1">
                <a:solidFill>
                  <a:srgbClr val="1E3A5F"/>
                </a:solidFill>
              </a:defRPr>
            </a:pPr>
            <a:r>
              <a:t>避免了"一言堂"的独断</a:t>
            </a:r>
          </a:p>
        </p:txBody>
      </p:sp>
      <p:sp>
        <p:nvSpPr>
          <p:cNvPr id="26" name="TextBox 25"/>
          <p:cNvSpPr txBox="1"/>
          <p:nvPr/>
        </p:nvSpPr>
        <p:spPr>
          <a:xfrm>
            <a:off x="6492240" y="3611880"/>
            <a:ext cx="5120640" cy="274320"/>
          </a:xfrm>
          <a:prstGeom prst="rect">
            <a:avLst/>
          </a:prstGeom>
          <a:noFill/>
        </p:spPr>
        <p:txBody>
          <a:bodyPr wrap="square">
            <a:spAutoFit/>
          </a:bodyPr>
          <a:lstStyle/>
          <a:p>
            <a:pPr algn="ctr">
              <a:defRPr sz="1200" b="1">
                <a:solidFill>
                  <a:srgbClr val="1E3A5F"/>
                </a:solidFill>
              </a:defRPr>
            </a:pPr>
            <a:r>
              <a:t>避免了"议而不决"的拖沓</a:t>
            </a:r>
          </a:p>
        </p:txBody>
      </p:sp>
      <p:sp>
        <p:nvSpPr>
          <p:cNvPr id="27" name="TextBox 26"/>
          <p:cNvSpPr txBox="1"/>
          <p:nvPr/>
        </p:nvSpPr>
        <p:spPr>
          <a:xfrm>
            <a:off x="6309360" y="4114800"/>
            <a:ext cx="5303520" cy="1188720"/>
          </a:xfrm>
          <a:prstGeom prst="rect">
            <a:avLst/>
          </a:prstGeom>
          <a:noFill/>
        </p:spPr>
        <p:txBody>
          <a:bodyPr wrap="square">
            <a:spAutoFit/>
          </a:bodyPr>
          <a:lstStyle/>
          <a:p>
            <a:pPr algn="l">
              <a:defRPr sz="1100" b="1">
                <a:solidFill>
                  <a:srgbClr val="1E3A5F"/>
                </a:solidFill>
              </a:defRPr>
            </a:pPr>
            <a:r>
              <a:t>三峡案例证明：民主集中制在重大工程决策中，可以实现质量与效率的统一，这是中国决策机制对群体决策理论的重要贡献。</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04  实地调研与民意整合</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14 / 20</a:t>
            </a:r>
          </a:p>
        </p:txBody>
      </p:sp>
      <p:sp>
        <p:nvSpPr>
          <p:cNvPr id="7" name="Rectangle 6"/>
          <p:cNvSpPr/>
          <p:nvPr/>
        </p:nvSpPr>
        <p:spPr>
          <a:xfrm>
            <a:off x="365760" y="914400"/>
            <a:ext cx="557784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14400"/>
            <a:ext cx="54864" cy="53035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51560"/>
            <a:ext cx="5120640" cy="365760"/>
          </a:xfrm>
          <a:prstGeom prst="rect">
            <a:avLst/>
          </a:prstGeom>
          <a:noFill/>
        </p:spPr>
        <p:txBody>
          <a:bodyPr wrap="square">
            <a:spAutoFit/>
          </a:bodyPr>
          <a:lstStyle/>
          <a:p>
            <a:pPr algn="l">
              <a:defRPr sz="1400" b="1">
                <a:solidFill>
                  <a:srgbClr val="1E3A5F"/>
                </a:solidFill>
              </a:defRPr>
            </a:pPr>
            <a:r>
              <a:t>考察组织过程</a:t>
            </a:r>
          </a:p>
        </p:txBody>
      </p:sp>
      <p:sp>
        <p:nvSpPr>
          <p:cNvPr id="10" name="Rectangle 9"/>
          <p:cNvSpPr/>
          <p:nvPr/>
        </p:nvSpPr>
        <p:spPr>
          <a:xfrm>
            <a:off x="548640" y="1417320"/>
            <a:ext cx="512064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72768"/>
            <a:ext cx="5120640" cy="1463040"/>
          </a:xfrm>
          <a:prstGeom prst="rect">
            <a:avLst/>
          </a:prstGeom>
          <a:noFill/>
        </p:spPr>
        <p:txBody>
          <a:bodyPr wrap="square">
            <a:spAutoFit/>
          </a:bodyPr>
          <a:lstStyle/>
          <a:p>
            <a:pPr algn="l">
              <a:defRPr sz="1100" b="0">
                <a:solidFill>
                  <a:srgbClr val="1A1A1A"/>
                </a:solidFill>
              </a:defRPr>
            </a:pPr>
            <a:r>
              <a:t>在1992年全国人大审议前夕，国务院安排国家计委副主任甘子玉带队，组织了100多人的实地考察团。考察团成员包括国务院各部委代表、各省（区、市）负责人、水利专家等，乘坐两条大船从重庆出发，沿江而下，进行了为期数日的实地调研。</a:t>
            </a:r>
          </a:p>
        </p:txBody>
      </p:sp>
      <p:sp>
        <p:nvSpPr>
          <p:cNvPr id="12" name="TextBox 11"/>
          <p:cNvSpPr txBox="1"/>
          <p:nvPr/>
        </p:nvSpPr>
        <p:spPr>
          <a:xfrm>
            <a:off x="548640" y="3035808"/>
            <a:ext cx="5120640" cy="1280160"/>
          </a:xfrm>
          <a:prstGeom prst="rect">
            <a:avLst/>
          </a:prstGeom>
          <a:noFill/>
        </p:spPr>
        <p:txBody>
          <a:bodyPr wrap="square">
            <a:spAutoFit/>
          </a:bodyPr>
          <a:lstStyle/>
          <a:p>
            <a:pPr algn="l">
              <a:defRPr sz="1100" b="0">
                <a:solidFill>
                  <a:srgbClr val="1A1A1A"/>
                </a:solidFill>
              </a:defRPr>
            </a:pPr>
            <a:r>
              <a:t>考察团深入四川（当时重庆尚未直辖）、湖北、湖南三省，实地查看库区淹没区、坝址工程区、下游受益区的实际情况，与当地干部群众面对面交流，听取他们对三峡工程的真实看法。</a:t>
            </a:r>
          </a:p>
        </p:txBody>
      </p:sp>
      <p:sp>
        <p:nvSpPr>
          <p:cNvPr id="13" name="Rectangle 12"/>
          <p:cNvSpPr/>
          <p:nvPr/>
        </p:nvSpPr>
        <p:spPr>
          <a:xfrm>
            <a:off x="6126480" y="914400"/>
            <a:ext cx="5669280"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914400"/>
            <a:ext cx="54864" cy="5303520"/>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051560"/>
            <a:ext cx="5303520" cy="365760"/>
          </a:xfrm>
          <a:prstGeom prst="rect">
            <a:avLst/>
          </a:prstGeom>
          <a:noFill/>
        </p:spPr>
        <p:txBody>
          <a:bodyPr wrap="square">
            <a:spAutoFit/>
          </a:bodyPr>
          <a:lstStyle/>
          <a:p>
            <a:pPr algn="l">
              <a:defRPr sz="1400" b="1">
                <a:solidFill>
                  <a:srgbClr val="D4583A"/>
                </a:solidFill>
              </a:defRPr>
            </a:pPr>
            <a:r>
              <a:t>调研的关键成效</a:t>
            </a:r>
          </a:p>
        </p:txBody>
      </p:sp>
      <p:sp>
        <p:nvSpPr>
          <p:cNvPr id="16" name="Rectangle 15"/>
          <p:cNvSpPr/>
          <p:nvPr/>
        </p:nvSpPr>
        <p:spPr>
          <a:xfrm>
            <a:off x="6309360" y="1417320"/>
            <a:ext cx="5303520" cy="18288"/>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1572768"/>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1591056"/>
            <a:ext cx="256032" cy="228600"/>
          </a:xfrm>
          <a:prstGeom prst="rect">
            <a:avLst/>
          </a:prstGeom>
          <a:noFill/>
        </p:spPr>
        <p:txBody>
          <a:bodyPr wrap="square">
            <a:spAutoFit/>
          </a:bodyPr>
          <a:lstStyle/>
          <a:p>
            <a:pPr algn="ctr">
              <a:defRPr sz="1000" b="1">
                <a:solidFill>
                  <a:srgbClr val="FFFFFF"/>
                </a:solidFill>
              </a:defRPr>
            </a:pPr>
            <a:r>
              <a:t>1</a:t>
            </a:r>
          </a:p>
        </p:txBody>
      </p:sp>
      <p:sp>
        <p:nvSpPr>
          <p:cNvPr id="19" name="TextBox 18"/>
          <p:cNvSpPr txBox="1"/>
          <p:nvPr/>
        </p:nvSpPr>
        <p:spPr>
          <a:xfrm>
            <a:off x="6693408" y="1572768"/>
            <a:ext cx="4937760" cy="594360"/>
          </a:xfrm>
          <a:prstGeom prst="rect">
            <a:avLst/>
          </a:prstGeom>
          <a:noFill/>
        </p:spPr>
        <p:txBody>
          <a:bodyPr wrap="square">
            <a:spAutoFit/>
          </a:bodyPr>
          <a:lstStyle/>
          <a:p>
            <a:pPr algn="l">
              <a:defRPr sz="1100" b="0">
                <a:solidFill>
                  <a:srgbClr val="1A1A1A"/>
                </a:solidFill>
              </a:defRPr>
            </a:pPr>
            <a:r>
              <a:t>亲眼看到了洞庭湖和江汉平原历年洪水留下的灾害遗迹</a:t>
            </a:r>
          </a:p>
        </p:txBody>
      </p:sp>
      <p:sp>
        <p:nvSpPr>
          <p:cNvPr id="20" name="Rectangle 19"/>
          <p:cNvSpPr/>
          <p:nvPr/>
        </p:nvSpPr>
        <p:spPr>
          <a:xfrm>
            <a:off x="6309360" y="2231136"/>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9360" y="2249424"/>
            <a:ext cx="256032" cy="228600"/>
          </a:xfrm>
          <a:prstGeom prst="rect">
            <a:avLst/>
          </a:prstGeom>
          <a:noFill/>
        </p:spPr>
        <p:txBody>
          <a:bodyPr wrap="square">
            <a:spAutoFit/>
          </a:bodyPr>
          <a:lstStyle/>
          <a:p>
            <a:pPr algn="ctr">
              <a:defRPr sz="1000" b="1">
                <a:solidFill>
                  <a:srgbClr val="FFFFFF"/>
                </a:solidFill>
              </a:defRPr>
            </a:pPr>
            <a:r>
              <a:t>2</a:t>
            </a:r>
          </a:p>
        </p:txBody>
      </p:sp>
      <p:sp>
        <p:nvSpPr>
          <p:cNvPr id="22" name="TextBox 21"/>
          <p:cNvSpPr txBox="1"/>
          <p:nvPr/>
        </p:nvSpPr>
        <p:spPr>
          <a:xfrm>
            <a:off x="6693408" y="2231136"/>
            <a:ext cx="4937760" cy="594360"/>
          </a:xfrm>
          <a:prstGeom prst="rect">
            <a:avLst/>
          </a:prstGeom>
          <a:noFill/>
        </p:spPr>
        <p:txBody>
          <a:bodyPr wrap="square">
            <a:spAutoFit/>
          </a:bodyPr>
          <a:lstStyle/>
          <a:p>
            <a:pPr algn="l">
              <a:defRPr sz="1100" b="0">
                <a:solidFill>
                  <a:srgbClr val="1A1A1A"/>
                </a:solidFill>
              </a:defRPr>
            </a:pPr>
            <a:r>
              <a:t>亲耳听到了沿岸居民关于洪水损失的血泪诉说</a:t>
            </a:r>
          </a:p>
        </p:txBody>
      </p:sp>
      <p:sp>
        <p:nvSpPr>
          <p:cNvPr id="23" name="Rectangle 22"/>
          <p:cNvSpPr/>
          <p:nvPr/>
        </p:nvSpPr>
        <p:spPr>
          <a:xfrm>
            <a:off x="6309360" y="2889504"/>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09360" y="2907792"/>
            <a:ext cx="256032" cy="228600"/>
          </a:xfrm>
          <a:prstGeom prst="rect">
            <a:avLst/>
          </a:prstGeom>
          <a:noFill/>
        </p:spPr>
        <p:txBody>
          <a:bodyPr wrap="square">
            <a:spAutoFit/>
          </a:bodyPr>
          <a:lstStyle/>
          <a:p>
            <a:pPr algn="ctr">
              <a:defRPr sz="1000" b="1">
                <a:solidFill>
                  <a:srgbClr val="FFFFFF"/>
                </a:solidFill>
              </a:defRPr>
            </a:pPr>
            <a:r>
              <a:t>3</a:t>
            </a:r>
          </a:p>
        </p:txBody>
      </p:sp>
      <p:sp>
        <p:nvSpPr>
          <p:cNvPr id="25" name="TextBox 24"/>
          <p:cNvSpPr txBox="1"/>
          <p:nvPr/>
        </p:nvSpPr>
        <p:spPr>
          <a:xfrm>
            <a:off x="6693408" y="2889504"/>
            <a:ext cx="4937760" cy="594360"/>
          </a:xfrm>
          <a:prstGeom prst="rect">
            <a:avLst/>
          </a:prstGeom>
          <a:noFill/>
        </p:spPr>
        <p:txBody>
          <a:bodyPr wrap="square">
            <a:spAutoFit/>
          </a:bodyPr>
          <a:lstStyle/>
          <a:p>
            <a:pPr algn="l">
              <a:defRPr sz="1100" b="0">
                <a:solidFill>
                  <a:srgbClr val="1A1A1A"/>
                </a:solidFill>
              </a:defRPr>
            </a:pPr>
            <a:r>
              <a:t>亲身感受到了群众对建设三峡大坝的强烈期盼</a:t>
            </a:r>
          </a:p>
        </p:txBody>
      </p:sp>
      <p:sp>
        <p:nvSpPr>
          <p:cNvPr id="26" name="Rectangle 25"/>
          <p:cNvSpPr/>
          <p:nvPr/>
        </p:nvSpPr>
        <p:spPr>
          <a:xfrm>
            <a:off x="6309360" y="3547872"/>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3566160"/>
            <a:ext cx="256032" cy="228600"/>
          </a:xfrm>
          <a:prstGeom prst="rect">
            <a:avLst/>
          </a:prstGeom>
          <a:noFill/>
        </p:spPr>
        <p:txBody>
          <a:bodyPr wrap="square">
            <a:spAutoFit/>
          </a:bodyPr>
          <a:lstStyle/>
          <a:p>
            <a:pPr algn="ctr">
              <a:defRPr sz="1000" b="1">
                <a:solidFill>
                  <a:srgbClr val="FFFFFF"/>
                </a:solidFill>
              </a:defRPr>
            </a:pPr>
            <a:r>
              <a:t>4</a:t>
            </a:r>
          </a:p>
        </p:txBody>
      </p:sp>
      <p:sp>
        <p:nvSpPr>
          <p:cNvPr id="28" name="TextBox 27"/>
          <p:cNvSpPr txBox="1"/>
          <p:nvPr/>
        </p:nvSpPr>
        <p:spPr>
          <a:xfrm>
            <a:off x="6693408" y="3547872"/>
            <a:ext cx="4937760" cy="594360"/>
          </a:xfrm>
          <a:prstGeom prst="rect">
            <a:avLst/>
          </a:prstGeom>
          <a:noFill/>
        </p:spPr>
        <p:txBody>
          <a:bodyPr wrap="square">
            <a:spAutoFit/>
          </a:bodyPr>
          <a:lstStyle/>
          <a:p>
            <a:pPr algn="l">
              <a:defRPr sz="1100" b="0">
                <a:solidFill>
                  <a:srgbClr val="1A1A1A"/>
                </a:solidFill>
              </a:defRPr>
            </a:pPr>
            <a:r>
              <a:t>对确定"防洪为主"的功能定位起到了核心作用</a:t>
            </a:r>
          </a:p>
        </p:txBody>
      </p:sp>
      <p:sp>
        <p:nvSpPr>
          <p:cNvPr id="29" name="Rectangle 28"/>
          <p:cNvSpPr/>
          <p:nvPr/>
        </p:nvSpPr>
        <p:spPr>
          <a:xfrm>
            <a:off x="6309360" y="4206240"/>
            <a:ext cx="256032" cy="256032"/>
          </a:xfrm>
          <a:prstGeom prst="rect">
            <a:avLst/>
          </a:prstGeom>
          <a:solidFill>
            <a:srgbClr val="D458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09360" y="4224527"/>
            <a:ext cx="256032" cy="228600"/>
          </a:xfrm>
          <a:prstGeom prst="rect">
            <a:avLst/>
          </a:prstGeom>
          <a:noFill/>
        </p:spPr>
        <p:txBody>
          <a:bodyPr wrap="square">
            <a:spAutoFit/>
          </a:bodyPr>
          <a:lstStyle/>
          <a:p>
            <a:pPr algn="ctr">
              <a:defRPr sz="1000" b="1">
                <a:solidFill>
                  <a:srgbClr val="FFFFFF"/>
                </a:solidFill>
              </a:defRPr>
            </a:pPr>
            <a:r>
              <a:t>5</a:t>
            </a:r>
          </a:p>
        </p:txBody>
      </p:sp>
      <p:sp>
        <p:nvSpPr>
          <p:cNvPr id="31" name="TextBox 30"/>
          <p:cNvSpPr txBox="1"/>
          <p:nvPr/>
        </p:nvSpPr>
        <p:spPr>
          <a:xfrm>
            <a:off x="6693408" y="4206240"/>
            <a:ext cx="4937760" cy="594360"/>
          </a:xfrm>
          <a:prstGeom prst="rect">
            <a:avLst/>
          </a:prstGeom>
          <a:noFill/>
        </p:spPr>
        <p:txBody>
          <a:bodyPr wrap="square">
            <a:spAutoFit/>
          </a:bodyPr>
          <a:lstStyle/>
          <a:p>
            <a:pPr algn="l">
              <a:defRPr sz="1100" b="0">
                <a:solidFill>
                  <a:srgbClr val="1A1A1A"/>
                </a:solidFill>
              </a:defRPr>
            </a:pPr>
            <a:r>
              <a:t>对统一代表思想认识、促进投赞成票起关键作用</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05  利益格局与制度设计</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15 / 20</a:t>
            </a:r>
          </a:p>
        </p:txBody>
      </p:sp>
      <p:sp>
        <p:nvSpPr>
          <p:cNvPr id="7" name="TextBox 6"/>
          <p:cNvSpPr txBox="1"/>
          <p:nvPr/>
        </p:nvSpPr>
        <p:spPr>
          <a:xfrm>
            <a:off x="457200" y="932688"/>
            <a:ext cx="11274552" cy="365760"/>
          </a:xfrm>
          <a:prstGeom prst="rect">
            <a:avLst/>
          </a:prstGeom>
          <a:noFill/>
        </p:spPr>
        <p:txBody>
          <a:bodyPr wrap="square">
            <a:spAutoFit/>
          </a:bodyPr>
          <a:lstStyle/>
          <a:p>
            <a:pPr algn="ctr">
              <a:defRPr sz="1200" b="0">
                <a:solidFill>
                  <a:srgbClr val="6B7280"/>
                </a:solidFill>
              </a:defRPr>
            </a:pPr>
            <a:r>
              <a:t>三峡工程涉及多重利益冲突：上下游、防洪与发电、工程建设与移民安置、短期成本与长期效益……</a:t>
            </a:r>
          </a:p>
        </p:txBody>
      </p:sp>
      <p:sp>
        <p:nvSpPr>
          <p:cNvPr id="8" name="Rectangle 7"/>
          <p:cNvSpPr/>
          <p:nvPr/>
        </p:nvSpPr>
        <p:spPr>
          <a:xfrm>
            <a:off x="365760" y="128016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1536192"/>
            <a:ext cx="457200" cy="457200"/>
          </a:xfrm>
          <a:prstGeom prst="rect">
            <a:avLst/>
          </a:prstGeom>
          <a:noFill/>
        </p:spPr>
        <p:txBody>
          <a:bodyPr wrap="square">
            <a:spAutoFit/>
          </a:bodyPr>
          <a:lstStyle/>
          <a:p>
            <a:pPr algn="ctr">
              <a:defRPr sz="1700" b="1">
                <a:solidFill>
                  <a:srgbClr val="FFFFFF"/>
                </a:solidFill>
              </a:defRPr>
            </a:pPr>
            <a:r>
              <a:t>1</a:t>
            </a:r>
          </a:p>
        </p:txBody>
      </p:sp>
      <p:sp>
        <p:nvSpPr>
          <p:cNvPr id="10" name="Rectangle 9"/>
          <p:cNvSpPr/>
          <p:nvPr/>
        </p:nvSpPr>
        <p:spPr>
          <a:xfrm>
            <a:off x="914400" y="128016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1371600"/>
            <a:ext cx="2286000" cy="365760"/>
          </a:xfrm>
          <a:prstGeom prst="rect">
            <a:avLst/>
          </a:prstGeom>
          <a:noFill/>
        </p:spPr>
        <p:txBody>
          <a:bodyPr wrap="square">
            <a:spAutoFit/>
          </a:bodyPr>
          <a:lstStyle/>
          <a:p>
            <a:pPr algn="l">
              <a:defRPr sz="1400" b="1">
                <a:solidFill>
                  <a:srgbClr val="1E3A5F"/>
                </a:solidFill>
              </a:defRPr>
            </a:pPr>
            <a:r>
              <a:t>防洪优先</a:t>
            </a:r>
          </a:p>
        </p:txBody>
      </p:sp>
      <p:sp>
        <p:nvSpPr>
          <p:cNvPr id="12" name="Rectangle 11"/>
          <p:cNvSpPr/>
          <p:nvPr/>
        </p:nvSpPr>
        <p:spPr>
          <a:xfrm>
            <a:off x="3474720" y="137160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1371600"/>
            <a:ext cx="7955279" cy="868680"/>
          </a:xfrm>
          <a:prstGeom prst="rect">
            <a:avLst/>
          </a:prstGeom>
          <a:noFill/>
        </p:spPr>
        <p:txBody>
          <a:bodyPr wrap="square">
            <a:spAutoFit/>
          </a:bodyPr>
          <a:lstStyle/>
          <a:p>
            <a:pPr algn="l">
              <a:defRPr sz="1100" b="0">
                <a:solidFill>
                  <a:srgbClr val="1A1A1A"/>
                </a:solidFill>
              </a:defRPr>
            </a:pPr>
            <a:r>
              <a:t>将防洪功能定位为首要目标，确保防洪效益的不可替代性。三峡大坝可将荆江河段防洪标准从十年一遇提升到百年一遇，这是其他方案无法替代的核心价值。</a:t>
            </a:r>
          </a:p>
        </p:txBody>
      </p:sp>
      <p:sp>
        <p:nvSpPr>
          <p:cNvPr id="14" name="Rectangle 13"/>
          <p:cNvSpPr/>
          <p:nvPr/>
        </p:nvSpPr>
        <p:spPr>
          <a:xfrm>
            <a:off x="365760" y="246888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724912"/>
            <a:ext cx="457200" cy="457200"/>
          </a:xfrm>
          <a:prstGeom prst="rect">
            <a:avLst/>
          </a:prstGeom>
          <a:noFill/>
        </p:spPr>
        <p:txBody>
          <a:bodyPr wrap="square">
            <a:spAutoFit/>
          </a:bodyPr>
          <a:lstStyle/>
          <a:p>
            <a:pPr algn="ctr">
              <a:defRPr sz="1700" b="1">
                <a:solidFill>
                  <a:srgbClr val="FFFFFF"/>
                </a:solidFill>
              </a:defRPr>
            </a:pPr>
            <a:r>
              <a:t>2</a:t>
            </a:r>
          </a:p>
        </p:txBody>
      </p:sp>
      <p:sp>
        <p:nvSpPr>
          <p:cNvPr id="16" name="Rectangle 15"/>
          <p:cNvSpPr/>
          <p:nvPr/>
        </p:nvSpPr>
        <p:spPr>
          <a:xfrm>
            <a:off x="914400" y="246888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560320"/>
            <a:ext cx="2286000" cy="365760"/>
          </a:xfrm>
          <a:prstGeom prst="rect">
            <a:avLst/>
          </a:prstGeom>
          <a:noFill/>
        </p:spPr>
        <p:txBody>
          <a:bodyPr wrap="square">
            <a:spAutoFit/>
          </a:bodyPr>
          <a:lstStyle/>
          <a:p>
            <a:pPr algn="l">
              <a:defRPr sz="1400" b="1">
                <a:solidFill>
                  <a:srgbClr val="1E3A5F"/>
                </a:solidFill>
              </a:defRPr>
            </a:pPr>
            <a:r>
              <a:t>移民优先</a:t>
            </a:r>
          </a:p>
        </p:txBody>
      </p:sp>
      <p:sp>
        <p:nvSpPr>
          <p:cNvPr id="18" name="Rectangle 17"/>
          <p:cNvSpPr/>
          <p:nvPr/>
        </p:nvSpPr>
        <p:spPr>
          <a:xfrm>
            <a:off x="3474720" y="256032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0" y="2560320"/>
            <a:ext cx="7955279" cy="868680"/>
          </a:xfrm>
          <a:prstGeom prst="rect">
            <a:avLst/>
          </a:prstGeom>
          <a:noFill/>
        </p:spPr>
        <p:txBody>
          <a:bodyPr wrap="square">
            <a:spAutoFit/>
          </a:bodyPr>
          <a:lstStyle/>
          <a:p>
            <a:pPr algn="l">
              <a:defRPr sz="1100" b="0">
                <a:solidFill>
                  <a:srgbClr val="1A1A1A"/>
                </a:solidFill>
              </a:defRPr>
            </a:pPr>
            <a:r>
              <a:t>2005年国务院成立后期扶持工作领导小组，专门解决移民"搬得出、稳得住、能致富"的问题。建立产业发展基金、后期扶持基金等长效机制。</a:t>
            </a:r>
          </a:p>
        </p:txBody>
      </p:sp>
      <p:sp>
        <p:nvSpPr>
          <p:cNvPr id="20" name="Rectangle 19"/>
          <p:cNvSpPr/>
          <p:nvPr/>
        </p:nvSpPr>
        <p:spPr>
          <a:xfrm>
            <a:off x="365760" y="365760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3913632"/>
            <a:ext cx="457200" cy="457200"/>
          </a:xfrm>
          <a:prstGeom prst="rect">
            <a:avLst/>
          </a:prstGeom>
          <a:noFill/>
        </p:spPr>
        <p:txBody>
          <a:bodyPr wrap="square">
            <a:spAutoFit/>
          </a:bodyPr>
          <a:lstStyle/>
          <a:p>
            <a:pPr algn="ctr">
              <a:defRPr sz="1700" b="1">
                <a:solidFill>
                  <a:srgbClr val="FFFFFF"/>
                </a:solidFill>
              </a:defRPr>
            </a:pPr>
            <a:r>
              <a:t>3</a:t>
            </a:r>
          </a:p>
        </p:txBody>
      </p:sp>
      <p:sp>
        <p:nvSpPr>
          <p:cNvPr id="22" name="Rectangle 21"/>
          <p:cNvSpPr/>
          <p:nvPr/>
        </p:nvSpPr>
        <p:spPr>
          <a:xfrm>
            <a:off x="914400" y="365760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3749039"/>
            <a:ext cx="2286000" cy="365760"/>
          </a:xfrm>
          <a:prstGeom prst="rect">
            <a:avLst/>
          </a:prstGeom>
          <a:noFill/>
        </p:spPr>
        <p:txBody>
          <a:bodyPr wrap="square">
            <a:spAutoFit/>
          </a:bodyPr>
          <a:lstStyle/>
          <a:p>
            <a:pPr algn="l">
              <a:defRPr sz="1400" b="1">
                <a:solidFill>
                  <a:srgbClr val="1E3A5F"/>
                </a:solidFill>
              </a:defRPr>
            </a:pPr>
            <a:r>
              <a:t>生态补偿</a:t>
            </a:r>
          </a:p>
        </p:txBody>
      </p:sp>
      <p:sp>
        <p:nvSpPr>
          <p:cNvPr id="24" name="Rectangle 23"/>
          <p:cNvSpPr/>
          <p:nvPr/>
        </p:nvSpPr>
        <p:spPr>
          <a:xfrm>
            <a:off x="3474720" y="3749039"/>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0" y="3749039"/>
            <a:ext cx="7955279" cy="868680"/>
          </a:xfrm>
          <a:prstGeom prst="rect">
            <a:avLst/>
          </a:prstGeom>
          <a:noFill/>
        </p:spPr>
        <p:txBody>
          <a:bodyPr wrap="square">
            <a:spAutoFit/>
          </a:bodyPr>
          <a:lstStyle/>
          <a:p>
            <a:pPr algn="l">
              <a:defRPr sz="1100" b="0">
                <a:solidFill>
                  <a:srgbClr val="1A1A1A"/>
                </a:solidFill>
              </a:defRPr>
            </a:pPr>
            <a:r>
              <a:t>建立库区产业发展基金、后期扶持基金等优惠政策，对库区进行持续生态修复和环境治理，平衡工程建设与生态保护的关系。</a:t>
            </a:r>
          </a:p>
        </p:txBody>
      </p:sp>
      <p:sp>
        <p:nvSpPr>
          <p:cNvPr id="26" name="Rectangle 25"/>
          <p:cNvSpPr/>
          <p:nvPr/>
        </p:nvSpPr>
        <p:spPr>
          <a:xfrm>
            <a:off x="365760" y="4846320"/>
            <a:ext cx="457200" cy="10058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60" y="5102352"/>
            <a:ext cx="457200" cy="457200"/>
          </a:xfrm>
          <a:prstGeom prst="rect">
            <a:avLst/>
          </a:prstGeom>
          <a:noFill/>
        </p:spPr>
        <p:txBody>
          <a:bodyPr wrap="square">
            <a:spAutoFit/>
          </a:bodyPr>
          <a:lstStyle/>
          <a:p>
            <a:pPr algn="ctr">
              <a:defRPr sz="1700" b="1">
                <a:solidFill>
                  <a:srgbClr val="FFFFFF"/>
                </a:solidFill>
              </a:defRPr>
            </a:pPr>
            <a:r>
              <a:t>4</a:t>
            </a:r>
          </a:p>
        </p:txBody>
      </p:sp>
      <p:sp>
        <p:nvSpPr>
          <p:cNvPr id="28" name="Rectangle 27"/>
          <p:cNvSpPr/>
          <p:nvPr/>
        </p:nvSpPr>
        <p:spPr>
          <a:xfrm>
            <a:off x="914400" y="4846320"/>
            <a:ext cx="10881360" cy="1005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97280" y="4937760"/>
            <a:ext cx="2286000" cy="365760"/>
          </a:xfrm>
          <a:prstGeom prst="rect">
            <a:avLst/>
          </a:prstGeom>
          <a:noFill/>
        </p:spPr>
        <p:txBody>
          <a:bodyPr wrap="square">
            <a:spAutoFit/>
          </a:bodyPr>
          <a:lstStyle/>
          <a:p>
            <a:pPr algn="l">
              <a:defRPr sz="1400" b="1">
                <a:solidFill>
                  <a:srgbClr val="1E3A5F"/>
                </a:solidFill>
              </a:defRPr>
            </a:pPr>
            <a:r>
              <a:t>跨区域协调</a:t>
            </a:r>
          </a:p>
        </p:txBody>
      </p:sp>
      <p:sp>
        <p:nvSpPr>
          <p:cNvPr id="30" name="Rectangle 29"/>
          <p:cNvSpPr/>
          <p:nvPr/>
        </p:nvSpPr>
        <p:spPr>
          <a:xfrm>
            <a:off x="3474720" y="4937760"/>
            <a:ext cx="27432" cy="82296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0" y="4937760"/>
            <a:ext cx="7955279" cy="868680"/>
          </a:xfrm>
          <a:prstGeom prst="rect">
            <a:avLst/>
          </a:prstGeom>
          <a:noFill/>
        </p:spPr>
        <p:txBody>
          <a:bodyPr wrap="square">
            <a:spAutoFit/>
          </a:bodyPr>
          <a:lstStyle/>
          <a:p>
            <a:pPr algn="l">
              <a:defRPr sz="1100" b="0">
                <a:solidFill>
                  <a:srgbClr val="1A1A1A"/>
                </a:solidFill>
              </a:defRPr>
            </a:pPr>
            <a:r>
              <a:t>通过联席会议制度，协调20个省（自治区、直辖市）对口支援库区移民搬迁安置工作，形成全国支援库区的良好格局。</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06  决策成效与历史检验（一）</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16 / 20</a:t>
            </a:r>
          </a:p>
        </p:txBody>
      </p:sp>
      <p:sp>
        <p:nvSpPr>
          <p:cNvPr id="7" name="Rectangle 6"/>
          <p:cNvSpPr/>
          <p:nvPr/>
        </p:nvSpPr>
        <p:spPr>
          <a:xfrm>
            <a:off x="3657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54864" cy="242316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97280"/>
            <a:ext cx="5212080" cy="365760"/>
          </a:xfrm>
          <a:prstGeom prst="rect">
            <a:avLst/>
          </a:prstGeom>
          <a:noFill/>
        </p:spPr>
        <p:txBody>
          <a:bodyPr wrap="square">
            <a:spAutoFit/>
          </a:bodyPr>
          <a:lstStyle/>
          <a:p>
            <a:pPr algn="l">
              <a:defRPr sz="1600" b="1">
                <a:solidFill>
                  <a:srgbClr val="1E3A5F"/>
                </a:solidFill>
              </a:defRPr>
            </a:pPr>
            <a:r>
              <a:t>防洪效益</a:t>
            </a:r>
          </a:p>
        </p:txBody>
      </p:sp>
      <p:sp>
        <p:nvSpPr>
          <p:cNvPr id="10" name="TextBox 9"/>
          <p:cNvSpPr txBox="1"/>
          <p:nvPr/>
        </p:nvSpPr>
        <p:spPr>
          <a:xfrm>
            <a:off x="548640" y="1508760"/>
            <a:ext cx="5212080" cy="457200"/>
          </a:xfrm>
          <a:prstGeom prst="rect">
            <a:avLst/>
          </a:prstGeom>
          <a:noFill/>
        </p:spPr>
        <p:txBody>
          <a:bodyPr wrap="square">
            <a:spAutoFit/>
          </a:bodyPr>
          <a:lstStyle/>
          <a:p>
            <a:pPr algn="l">
              <a:defRPr sz="1200" b="1">
                <a:solidFill>
                  <a:srgbClr val="1A1A1A"/>
                </a:solidFill>
              </a:defRPr>
            </a:pPr>
            <a:r>
              <a:t>十年一遇 → 百年一遇</a:t>
            </a:r>
          </a:p>
        </p:txBody>
      </p:sp>
      <p:sp>
        <p:nvSpPr>
          <p:cNvPr id="11" name="Rectangle 10"/>
          <p:cNvSpPr/>
          <p:nvPr/>
        </p:nvSpPr>
        <p:spPr>
          <a:xfrm>
            <a:off x="5486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57400"/>
            <a:ext cx="5212080" cy="1234440"/>
          </a:xfrm>
          <a:prstGeom prst="rect">
            <a:avLst/>
          </a:prstGeom>
          <a:noFill/>
        </p:spPr>
        <p:txBody>
          <a:bodyPr wrap="square">
            <a:spAutoFit/>
          </a:bodyPr>
          <a:lstStyle/>
          <a:p>
            <a:pPr algn="l">
              <a:defRPr sz="1100" b="0">
                <a:solidFill>
                  <a:srgbClr val="6B7280"/>
                </a:solidFill>
              </a:defRPr>
            </a:pPr>
            <a:r>
              <a:t>三峡水库防洪库容221.5亿立方米，可将荆江河段防洪标准从十年一遇提高到百年一遇。2010年汛期削峰率约40%，滞蓄洪水264.3亿立方米。截至2020年，三峡水库累计拦洪总量超过1800亿立方米，彻底改变了长江中下游的防洪格局。</a:t>
            </a:r>
          </a:p>
        </p:txBody>
      </p:sp>
      <p:sp>
        <p:nvSpPr>
          <p:cNvPr id="13" name="Rectangle 12"/>
          <p:cNvSpPr/>
          <p:nvPr/>
        </p:nvSpPr>
        <p:spPr>
          <a:xfrm>
            <a:off x="63093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960120"/>
            <a:ext cx="54864" cy="2423160"/>
          </a:xfrm>
          <a:prstGeom prst="rect">
            <a:avLst/>
          </a:prstGeom>
          <a:solidFill>
            <a:srgbClr val="2D5A8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097280"/>
            <a:ext cx="5212080" cy="365760"/>
          </a:xfrm>
          <a:prstGeom prst="rect">
            <a:avLst/>
          </a:prstGeom>
          <a:noFill/>
        </p:spPr>
        <p:txBody>
          <a:bodyPr wrap="square">
            <a:spAutoFit/>
          </a:bodyPr>
          <a:lstStyle/>
          <a:p>
            <a:pPr algn="l">
              <a:defRPr sz="1600" b="1">
                <a:solidFill>
                  <a:srgbClr val="1E3A5F"/>
                </a:solidFill>
              </a:defRPr>
            </a:pPr>
            <a:r>
              <a:t>发电效益</a:t>
            </a:r>
          </a:p>
        </p:txBody>
      </p:sp>
      <p:sp>
        <p:nvSpPr>
          <p:cNvPr id="16" name="TextBox 15"/>
          <p:cNvSpPr txBox="1"/>
          <p:nvPr/>
        </p:nvSpPr>
        <p:spPr>
          <a:xfrm>
            <a:off x="6492240" y="1508760"/>
            <a:ext cx="5212080" cy="457200"/>
          </a:xfrm>
          <a:prstGeom prst="rect">
            <a:avLst/>
          </a:prstGeom>
          <a:noFill/>
        </p:spPr>
        <p:txBody>
          <a:bodyPr wrap="square">
            <a:spAutoFit/>
          </a:bodyPr>
          <a:lstStyle/>
          <a:p>
            <a:pPr algn="l">
              <a:defRPr sz="1200" b="1">
                <a:solidFill>
                  <a:srgbClr val="1A1A1A"/>
                </a:solidFill>
              </a:defRPr>
            </a:pPr>
            <a:r>
              <a:t>装机容量2250万千瓦，世界第一</a:t>
            </a:r>
          </a:p>
        </p:txBody>
      </p:sp>
      <p:sp>
        <p:nvSpPr>
          <p:cNvPr id="17" name="Rectangle 16"/>
          <p:cNvSpPr/>
          <p:nvPr/>
        </p:nvSpPr>
        <p:spPr>
          <a:xfrm>
            <a:off x="64922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57400"/>
            <a:ext cx="5212080" cy="1234440"/>
          </a:xfrm>
          <a:prstGeom prst="rect">
            <a:avLst/>
          </a:prstGeom>
          <a:noFill/>
        </p:spPr>
        <p:txBody>
          <a:bodyPr wrap="square">
            <a:spAutoFit/>
          </a:bodyPr>
          <a:lstStyle/>
          <a:p>
            <a:pPr algn="l">
              <a:defRPr sz="1100" b="0">
                <a:solidFill>
                  <a:srgbClr val="6B7280"/>
                </a:solidFill>
              </a:defRPr>
            </a:pPr>
            <a:r>
              <a:t>年发电量约1000亿度，相当于5000万吨标准煤，为华东、华中、广东地区提供稳定清洁电力供应。截至2020年，三峡电站累计发电量达13541亿千瓦时，成为我国最重要的大型清洁能源生产基地。</a:t>
            </a:r>
          </a:p>
        </p:txBody>
      </p:sp>
      <p:sp>
        <p:nvSpPr>
          <p:cNvPr id="19" name="Rectangle 18"/>
          <p:cNvSpPr/>
          <p:nvPr/>
        </p:nvSpPr>
        <p:spPr>
          <a:xfrm>
            <a:off x="365760" y="5285232"/>
            <a:ext cx="11457432" cy="7498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468112"/>
            <a:ext cx="11064240" cy="502920"/>
          </a:xfrm>
          <a:prstGeom prst="rect">
            <a:avLst/>
          </a:prstGeom>
          <a:noFill/>
        </p:spPr>
        <p:txBody>
          <a:bodyPr wrap="square">
            <a:spAutoFit/>
          </a:bodyPr>
          <a:lstStyle/>
          <a:p>
            <a:pPr algn="ctr">
              <a:defRPr sz="1400" b="1">
                <a:solidFill>
                  <a:srgbClr val="FFFFFF"/>
                </a:solidFill>
              </a:defRPr>
            </a:pPr>
            <a:r>
              <a:t>综合效益：防洪 + 发电 + 航运 + 水资源调配 + 生态保护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06  决策成效与历史检验（二）</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17 / 20</a:t>
            </a:r>
          </a:p>
        </p:txBody>
      </p:sp>
      <p:sp>
        <p:nvSpPr>
          <p:cNvPr id="7" name="Rectangle 6"/>
          <p:cNvSpPr/>
          <p:nvPr/>
        </p:nvSpPr>
        <p:spPr>
          <a:xfrm>
            <a:off x="3657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960120"/>
            <a:ext cx="54864" cy="242316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097280"/>
            <a:ext cx="5212080" cy="365760"/>
          </a:xfrm>
          <a:prstGeom prst="rect">
            <a:avLst/>
          </a:prstGeom>
          <a:noFill/>
        </p:spPr>
        <p:txBody>
          <a:bodyPr wrap="square">
            <a:spAutoFit/>
          </a:bodyPr>
          <a:lstStyle/>
          <a:p>
            <a:pPr algn="l">
              <a:defRPr sz="1600" b="1">
                <a:solidFill>
                  <a:srgbClr val="1E3A5F"/>
                </a:solidFill>
              </a:defRPr>
            </a:pPr>
            <a:r>
              <a:t>航运效益</a:t>
            </a:r>
          </a:p>
        </p:txBody>
      </p:sp>
      <p:sp>
        <p:nvSpPr>
          <p:cNvPr id="10" name="TextBox 9"/>
          <p:cNvSpPr txBox="1"/>
          <p:nvPr/>
        </p:nvSpPr>
        <p:spPr>
          <a:xfrm>
            <a:off x="548640" y="1508760"/>
            <a:ext cx="5212080" cy="457200"/>
          </a:xfrm>
          <a:prstGeom prst="rect">
            <a:avLst/>
          </a:prstGeom>
          <a:noFill/>
        </p:spPr>
        <p:txBody>
          <a:bodyPr wrap="square">
            <a:spAutoFit/>
          </a:bodyPr>
          <a:lstStyle/>
          <a:p>
            <a:pPr algn="l">
              <a:defRPr sz="1200" b="1">
                <a:solidFill>
                  <a:srgbClr val="1A1A1A"/>
                </a:solidFill>
              </a:defRPr>
            </a:pPr>
            <a:r>
              <a:t>万吨船队直达重庆</a:t>
            </a:r>
          </a:p>
        </p:txBody>
      </p:sp>
      <p:sp>
        <p:nvSpPr>
          <p:cNvPr id="11" name="Rectangle 10"/>
          <p:cNvSpPr/>
          <p:nvPr/>
        </p:nvSpPr>
        <p:spPr>
          <a:xfrm>
            <a:off x="5486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057400"/>
            <a:ext cx="5212080" cy="1234440"/>
          </a:xfrm>
          <a:prstGeom prst="rect">
            <a:avLst/>
          </a:prstGeom>
          <a:noFill/>
        </p:spPr>
        <p:txBody>
          <a:bodyPr wrap="square">
            <a:spAutoFit/>
          </a:bodyPr>
          <a:lstStyle/>
          <a:p>
            <a:pPr algn="l">
              <a:defRPr sz="1100" b="0">
                <a:solidFill>
                  <a:srgbClr val="6B7280"/>
                </a:solidFill>
              </a:defRPr>
            </a:pPr>
            <a:r>
              <a:t>库区航道等级从III级提高到I级标准，5000吨以上船舶成为主流船型。平均每年水上交通事故数下降了2/3。截至2020年，累计过闸货运量14.83亿吨，2011年首次突破1亿吨，提前19年达到设计规划水平。</a:t>
            </a:r>
          </a:p>
        </p:txBody>
      </p:sp>
      <p:sp>
        <p:nvSpPr>
          <p:cNvPr id="13" name="Rectangle 12"/>
          <p:cNvSpPr/>
          <p:nvPr/>
        </p:nvSpPr>
        <p:spPr>
          <a:xfrm>
            <a:off x="6309360" y="960120"/>
            <a:ext cx="557784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09360" y="960120"/>
            <a:ext cx="54864" cy="242316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097280"/>
            <a:ext cx="5212080" cy="365760"/>
          </a:xfrm>
          <a:prstGeom prst="rect">
            <a:avLst/>
          </a:prstGeom>
          <a:noFill/>
        </p:spPr>
        <p:txBody>
          <a:bodyPr wrap="square">
            <a:spAutoFit/>
          </a:bodyPr>
          <a:lstStyle/>
          <a:p>
            <a:pPr algn="l">
              <a:defRPr sz="1600" b="1">
                <a:solidFill>
                  <a:srgbClr val="1E3A5F"/>
                </a:solidFill>
              </a:defRPr>
            </a:pPr>
            <a:r>
              <a:t>水资源战略</a:t>
            </a:r>
          </a:p>
        </p:txBody>
      </p:sp>
      <p:sp>
        <p:nvSpPr>
          <p:cNvPr id="16" name="TextBox 15"/>
          <p:cNvSpPr txBox="1"/>
          <p:nvPr/>
        </p:nvSpPr>
        <p:spPr>
          <a:xfrm>
            <a:off x="6492240" y="1508760"/>
            <a:ext cx="5212080" cy="457200"/>
          </a:xfrm>
          <a:prstGeom prst="rect">
            <a:avLst/>
          </a:prstGeom>
          <a:noFill/>
        </p:spPr>
        <p:txBody>
          <a:bodyPr wrap="square">
            <a:spAutoFit/>
          </a:bodyPr>
          <a:lstStyle/>
          <a:p>
            <a:pPr algn="l">
              <a:defRPr sz="1200" b="1">
                <a:solidFill>
                  <a:srgbClr val="1A1A1A"/>
                </a:solidFill>
              </a:defRPr>
            </a:pPr>
            <a:r>
              <a:t>枯水季节补水200多亿立方米</a:t>
            </a:r>
          </a:p>
        </p:txBody>
      </p:sp>
      <p:sp>
        <p:nvSpPr>
          <p:cNvPr id="17" name="Rectangle 16"/>
          <p:cNvSpPr/>
          <p:nvPr/>
        </p:nvSpPr>
        <p:spPr>
          <a:xfrm>
            <a:off x="6492240" y="1965960"/>
            <a:ext cx="5212080" cy="13716"/>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57400"/>
            <a:ext cx="5212080" cy="1234440"/>
          </a:xfrm>
          <a:prstGeom prst="rect">
            <a:avLst/>
          </a:prstGeom>
          <a:noFill/>
        </p:spPr>
        <p:txBody>
          <a:bodyPr wrap="square">
            <a:spAutoFit/>
          </a:bodyPr>
          <a:lstStyle/>
          <a:p>
            <a:pPr algn="l">
              <a:defRPr sz="1100" b="0">
                <a:solidFill>
                  <a:srgbClr val="6B7280"/>
                </a:solidFill>
              </a:defRPr>
            </a:pPr>
            <a:r>
              <a:t>三峡水库具有165亿立方米兴利调节库容，是我国重要的淡水资源战略储备库。每年枯水季节为长江中下游补水200多亿立方米。2011年干旱期间补水54.7亿立方米，被称为"抗旱及时雨"。</a:t>
            </a:r>
          </a:p>
        </p:txBody>
      </p:sp>
      <p:sp>
        <p:nvSpPr>
          <p:cNvPr id="19" name="Rectangle 18"/>
          <p:cNvSpPr/>
          <p:nvPr/>
        </p:nvSpPr>
        <p:spPr>
          <a:xfrm>
            <a:off x="365760" y="5285232"/>
            <a:ext cx="11457432" cy="749808"/>
          </a:xfrm>
          <a:prstGeom prst="rect">
            <a:avLst/>
          </a:prstGeom>
          <a:solidFill>
            <a:srgbClr val="F0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5468112"/>
            <a:ext cx="11064240" cy="502920"/>
          </a:xfrm>
          <a:prstGeom prst="rect">
            <a:avLst/>
          </a:prstGeom>
          <a:noFill/>
        </p:spPr>
        <p:txBody>
          <a:bodyPr wrap="square">
            <a:spAutoFit/>
          </a:bodyPr>
          <a:lstStyle/>
          <a:p>
            <a:pPr algn="ctr">
              <a:defRPr sz="1300" b="1">
                <a:solidFill>
                  <a:srgbClr val="1E3A5F"/>
                </a:solidFill>
              </a:defRPr>
            </a:pPr>
            <a:r>
              <a:t>历史是最好的检验者——2003年蓄水发电至今，三峡工程交出了一份出色的答卷。</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07  经验启示与理论价值</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18 / 20</a:t>
            </a:r>
          </a:p>
        </p:txBody>
      </p:sp>
      <p:sp>
        <p:nvSpPr>
          <p:cNvPr id="7" name="Rectangle 6"/>
          <p:cNvSpPr/>
          <p:nvPr/>
        </p:nvSpPr>
        <p:spPr>
          <a:xfrm>
            <a:off x="365760" y="96012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143000"/>
            <a:ext cx="457200" cy="457200"/>
          </a:xfrm>
          <a:prstGeom prst="rect">
            <a:avLst/>
          </a:prstGeom>
          <a:noFill/>
        </p:spPr>
        <p:txBody>
          <a:bodyPr wrap="square">
            <a:spAutoFit/>
          </a:bodyPr>
          <a:lstStyle/>
          <a:p>
            <a:pPr algn="ctr">
              <a:defRPr sz="1500" b="1">
                <a:solidFill>
                  <a:srgbClr val="FFFFFF"/>
                </a:solidFill>
              </a:defRPr>
            </a:pPr>
            <a:r>
              <a:t>1</a:t>
            </a:r>
          </a:p>
        </p:txBody>
      </p:sp>
      <p:sp>
        <p:nvSpPr>
          <p:cNvPr id="9" name="Rectangle 8"/>
          <p:cNvSpPr/>
          <p:nvPr/>
        </p:nvSpPr>
        <p:spPr>
          <a:xfrm>
            <a:off x="914400" y="96012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1033272"/>
            <a:ext cx="2926080" cy="347472"/>
          </a:xfrm>
          <a:prstGeom prst="rect">
            <a:avLst/>
          </a:prstGeom>
          <a:noFill/>
        </p:spPr>
        <p:txBody>
          <a:bodyPr wrap="square">
            <a:spAutoFit/>
          </a:bodyPr>
          <a:lstStyle/>
          <a:p>
            <a:pPr algn="l">
              <a:defRPr sz="1300" b="1">
                <a:solidFill>
                  <a:srgbClr val="1E3A5F"/>
                </a:solidFill>
              </a:defRPr>
            </a:pPr>
            <a:r>
              <a:t>共识构建先于决策</a:t>
            </a:r>
          </a:p>
        </p:txBody>
      </p:sp>
      <p:sp>
        <p:nvSpPr>
          <p:cNvPr id="11" name="Rectangle 10"/>
          <p:cNvSpPr/>
          <p:nvPr/>
        </p:nvSpPr>
        <p:spPr>
          <a:xfrm>
            <a:off x="4114800" y="105156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51960" y="1051560"/>
            <a:ext cx="7406640" cy="685800"/>
          </a:xfrm>
          <a:prstGeom prst="rect">
            <a:avLst/>
          </a:prstGeom>
          <a:noFill/>
        </p:spPr>
        <p:txBody>
          <a:bodyPr wrap="square">
            <a:spAutoFit/>
          </a:bodyPr>
          <a:lstStyle/>
          <a:p>
            <a:pPr algn="l">
              <a:defRPr sz="1100" b="0">
                <a:solidFill>
                  <a:srgbClr val="1A1A1A"/>
                </a:solidFill>
              </a:defRPr>
            </a:pPr>
            <a:r>
              <a:t>重大工程决策需要经历充分的讨论、争论和说服过程，不能跳过共识构建阶段。三峡从争议到共识的转变，说明了"共识成本"是值得付出的。</a:t>
            </a:r>
          </a:p>
        </p:txBody>
      </p:sp>
      <p:sp>
        <p:nvSpPr>
          <p:cNvPr id="13" name="Rectangle 12"/>
          <p:cNvSpPr/>
          <p:nvPr/>
        </p:nvSpPr>
        <p:spPr>
          <a:xfrm>
            <a:off x="914400" y="178308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96596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2148840"/>
            <a:ext cx="457200" cy="457200"/>
          </a:xfrm>
          <a:prstGeom prst="rect">
            <a:avLst/>
          </a:prstGeom>
          <a:noFill/>
        </p:spPr>
        <p:txBody>
          <a:bodyPr wrap="square">
            <a:spAutoFit/>
          </a:bodyPr>
          <a:lstStyle/>
          <a:p>
            <a:pPr algn="ctr">
              <a:defRPr sz="1500" b="1">
                <a:solidFill>
                  <a:srgbClr val="FFFFFF"/>
                </a:solidFill>
              </a:defRPr>
            </a:pPr>
            <a:r>
              <a:t>2</a:t>
            </a:r>
          </a:p>
        </p:txBody>
      </p:sp>
      <p:sp>
        <p:nvSpPr>
          <p:cNvPr id="16" name="Rectangle 15"/>
          <p:cNvSpPr/>
          <p:nvPr/>
        </p:nvSpPr>
        <p:spPr>
          <a:xfrm>
            <a:off x="914400" y="196596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039112"/>
            <a:ext cx="2926080" cy="347472"/>
          </a:xfrm>
          <a:prstGeom prst="rect">
            <a:avLst/>
          </a:prstGeom>
          <a:noFill/>
        </p:spPr>
        <p:txBody>
          <a:bodyPr wrap="square">
            <a:spAutoFit/>
          </a:bodyPr>
          <a:lstStyle/>
          <a:p>
            <a:pPr algn="l">
              <a:defRPr sz="1300" b="1">
                <a:solidFill>
                  <a:srgbClr val="1E3A5F"/>
                </a:solidFill>
              </a:defRPr>
            </a:pPr>
            <a:r>
              <a:t>包容异议而非消除异议</a:t>
            </a:r>
          </a:p>
        </p:txBody>
      </p:sp>
      <p:sp>
        <p:nvSpPr>
          <p:cNvPr id="18" name="Rectangle 17"/>
          <p:cNvSpPr/>
          <p:nvPr/>
        </p:nvSpPr>
        <p:spPr>
          <a:xfrm>
            <a:off x="4114800" y="205740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251960" y="2057400"/>
            <a:ext cx="7406640" cy="685800"/>
          </a:xfrm>
          <a:prstGeom prst="rect">
            <a:avLst/>
          </a:prstGeom>
          <a:noFill/>
        </p:spPr>
        <p:txBody>
          <a:bodyPr wrap="square">
            <a:spAutoFit/>
          </a:bodyPr>
          <a:lstStyle/>
          <a:p>
            <a:pPr algn="l">
              <a:defRPr sz="1100" b="0">
                <a:solidFill>
                  <a:srgbClr val="1A1A1A"/>
                </a:solidFill>
              </a:defRPr>
            </a:pPr>
            <a:r>
              <a:t>反对意见是完善方案、降低风险的重要资源。制度化地吸收反对意见，有助于提高决策质量——三峡案例提供了有力证明。</a:t>
            </a:r>
          </a:p>
        </p:txBody>
      </p:sp>
      <p:sp>
        <p:nvSpPr>
          <p:cNvPr id="20" name="Rectangle 19"/>
          <p:cNvSpPr/>
          <p:nvPr/>
        </p:nvSpPr>
        <p:spPr>
          <a:xfrm>
            <a:off x="914400" y="278892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97180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 y="3154680"/>
            <a:ext cx="457200" cy="457200"/>
          </a:xfrm>
          <a:prstGeom prst="rect">
            <a:avLst/>
          </a:prstGeom>
          <a:noFill/>
        </p:spPr>
        <p:txBody>
          <a:bodyPr wrap="square">
            <a:spAutoFit/>
          </a:bodyPr>
          <a:lstStyle/>
          <a:p>
            <a:pPr algn="ctr">
              <a:defRPr sz="1500" b="1">
                <a:solidFill>
                  <a:srgbClr val="FFFFFF"/>
                </a:solidFill>
              </a:defRPr>
            </a:pPr>
            <a:r>
              <a:t>3</a:t>
            </a:r>
          </a:p>
        </p:txBody>
      </p:sp>
      <p:sp>
        <p:nvSpPr>
          <p:cNvPr id="23" name="Rectangle 22"/>
          <p:cNvSpPr/>
          <p:nvPr/>
        </p:nvSpPr>
        <p:spPr>
          <a:xfrm>
            <a:off x="914400" y="297180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3044952"/>
            <a:ext cx="2926080" cy="347472"/>
          </a:xfrm>
          <a:prstGeom prst="rect">
            <a:avLst/>
          </a:prstGeom>
          <a:noFill/>
        </p:spPr>
        <p:txBody>
          <a:bodyPr wrap="square">
            <a:spAutoFit/>
          </a:bodyPr>
          <a:lstStyle/>
          <a:p>
            <a:pPr algn="l">
              <a:defRPr sz="1300" b="1">
                <a:solidFill>
                  <a:srgbClr val="1E3A5F"/>
                </a:solidFill>
              </a:defRPr>
            </a:pPr>
            <a:r>
              <a:t>科学支撑不可或缺</a:t>
            </a:r>
          </a:p>
        </p:txBody>
      </p:sp>
      <p:sp>
        <p:nvSpPr>
          <p:cNvPr id="25" name="Rectangle 24"/>
          <p:cNvSpPr/>
          <p:nvPr/>
        </p:nvSpPr>
        <p:spPr>
          <a:xfrm>
            <a:off x="4114800" y="306324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3063240"/>
            <a:ext cx="7406640" cy="685800"/>
          </a:xfrm>
          <a:prstGeom prst="rect">
            <a:avLst/>
          </a:prstGeom>
          <a:noFill/>
        </p:spPr>
        <p:txBody>
          <a:bodyPr wrap="square">
            <a:spAutoFit/>
          </a:bodyPr>
          <a:lstStyle/>
          <a:p>
            <a:pPr algn="l">
              <a:defRPr sz="1100" b="0">
                <a:solidFill>
                  <a:srgbClr val="1A1A1A"/>
                </a:solidFill>
              </a:defRPr>
            </a:pPr>
            <a:r>
              <a:t>群体决策不等于少数服从多数，需要以科学证据为基础，在充分信息条件下做出判断。"证据驱动"是科学决策的核心。</a:t>
            </a:r>
          </a:p>
        </p:txBody>
      </p:sp>
      <p:sp>
        <p:nvSpPr>
          <p:cNvPr id="27" name="Rectangle 26"/>
          <p:cNvSpPr/>
          <p:nvPr/>
        </p:nvSpPr>
        <p:spPr>
          <a:xfrm>
            <a:off x="914400" y="379476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97764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4160520"/>
            <a:ext cx="457200" cy="457200"/>
          </a:xfrm>
          <a:prstGeom prst="rect">
            <a:avLst/>
          </a:prstGeom>
          <a:noFill/>
        </p:spPr>
        <p:txBody>
          <a:bodyPr wrap="square">
            <a:spAutoFit/>
          </a:bodyPr>
          <a:lstStyle/>
          <a:p>
            <a:pPr algn="ctr">
              <a:defRPr sz="1500" b="1">
                <a:solidFill>
                  <a:srgbClr val="FFFFFF"/>
                </a:solidFill>
              </a:defRPr>
            </a:pPr>
            <a:r>
              <a:t>4</a:t>
            </a:r>
          </a:p>
        </p:txBody>
      </p:sp>
      <p:sp>
        <p:nvSpPr>
          <p:cNvPr id="30" name="Rectangle 29"/>
          <p:cNvSpPr/>
          <p:nvPr/>
        </p:nvSpPr>
        <p:spPr>
          <a:xfrm>
            <a:off x="914400" y="397764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97280" y="4050792"/>
            <a:ext cx="2926080" cy="347472"/>
          </a:xfrm>
          <a:prstGeom prst="rect">
            <a:avLst/>
          </a:prstGeom>
          <a:noFill/>
        </p:spPr>
        <p:txBody>
          <a:bodyPr wrap="square">
            <a:spAutoFit/>
          </a:bodyPr>
          <a:lstStyle/>
          <a:p>
            <a:pPr algn="l">
              <a:defRPr sz="1300" b="1">
                <a:solidFill>
                  <a:srgbClr val="1E3A5F"/>
                </a:solidFill>
              </a:defRPr>
            </a:pPr>
            <a:r>
              <a:t>代表性与合法性缺一不可</a:t>
            </a:r>
          </a:p>
        </p:txBody>
      </p:sp>
      <p:sp>
        <p:nvSpPr>
          <p:cNvPr id="32" name="Rectangle 31"/>
          <p:cNvSpPr/>
          <p:nvPr/>
        </p:nvSpPr>
        <p:spPr>
          <a:xfrm>
            <a:off x="4114800" y="406908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51960" y="4069080"/>
            <a:ext cx="7406640" cy="685800"/>
          </a:xfrm>
          <a:prstGeom prst="rect">
            <a:avLst/>
          </a:prstGeom>
          <a:noFill/>
        </p:spPr>
        <p:txBody>
          <a:bodyPr wrap="square">
            <a:spAutoFit/>
          </a:bodyPr>
          <a:lstStyle/>
          <a:p>
            <a:pPr algn="l">
              <a:defRPr sz="1100" b="0">
                <a:solidFill>
                  <a:srgbClr val="1A1A1A"/>
                </a:solidFill>
              </a:defRPr>
            </a:pPr>
            <a:r>
              <a:t>全国人大审议机制为重大决策提供了代表性和民主合法性，使决策获得公众认可和执行基础。</a:t>
            </a:r>
          </a:p>
        </p:txBody>
      </p:sp>
      <p:sp>
        <p:nvSpPr>
          <p:cNvPr id="34" name="Rectangle 33"/>
          <p:cNvSpPr/>
          <p:nvPr/>
        </p:nvSpPr>
        <p:spPr>
          <a:xfrm>
            <a:off x="914400" y="4800600"/>
            <a:ext cx="10881360" cy="9144"/>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4983480"/>
            <a:ext cx="457200" cy="82296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5166360"/>
            <a:ext cx="457200" cy="457200"/>
          </a:xfrm>
          <a:prstGeom prst="rect">
            <a:avLst/>
          </a:prstGeom>
          <a:noFill/>
        </p:spPr>
        <p:txBody>
          <a:bodyPr wrap="square">
            <a:spAutoFit/>
          </a:bodyPr>
          <a:lstStyle/>
          <a:p>
            <a:pPr algn="ctr">
              <a:defRPr sz="1500" b="1">
                <a:solidFill>
                  <a:srgbClr val="FFFFFF"/>
                </a:solidFill>
              </a:defRPr>
            </a:pPr>
            <a:r>
              <a:t>5</a:t>
            </a:r>
          </a:p>
        </p:txBody>
      </p:sp>
      <p:sp>
        <p:nvSpPr>
          <p:cNvPr id="37" name="Rectangle 36"/>
          <p:cNvSpPr/>
          <p:nvPr/>
        </p:nvSpPr>
        <p:spPr>
          <a:xfrm>
            <a:off x="914400" y="4983480"/>
            <a:ext cx="10881360" cy="822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97280" y="5056632"/>
            <a:ext cx="2926080" cy="347472"/>
          </a:xfrm>
          <a:prstGeom prst="rect">
            <a:avLst/>
          </a:prstGeom>
          <a:noFill/>
        </p:spPr>
        <p:txBody>
          <a:bodyPr wrap="square">
            <a:spAutoFit/>
          </a:bodyPr>
          <a:lstStyle/>
          <a:p>
            <a:pPr algn="l">
              <a:defRPr sz="1300" b="1">
                <a:solidFill>
                  <a:srgbClr val="1E3A5F"/>
                </a:solidFill>
              </a:defRPr>
            </a:pPr>
            <a:r>
              <a:t>长期视角与历史视野</a:t>
            </a:r>
          </a:p>
        </p:txBody>
      </p:sp>
      <p:sp>
        <p:nvSpPr>
          <p:cNvPr id="39" name="Rectangle 38"/>
          <p:cNvSpPr/>
          <p:nvPr/>
        </p:nvSpPr>
        <p:spPr>
          <a:xfrm>
            <a:off x="4114800" y="5074920"/>
            <a:ext cx="22860" cy="640080"/>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251960" y="5074920"/>
            <a:ext cx="7406640" cy="685800"/>
          </a:xfrm>
          <a:prstGeom prst="rect">
            <a:avLst/>
          </a:prstGeom>
          <a:noFill/>
        </p:spPr>
        <p:txBody>
          <a:bodyPr wrap="square">
            <a:spAutoFit/>
          </a:bodyPr>
          <a:lstStyle/>
          <a:p>
            <a:pPr algn="l">
              <a:defRPr sz="1100" b="0">
                <a:solidFill>
                  <a:srgbClr val="1A1A1A"/>
                </a:solidFill>
              </a:defRPr>
            </a:pPr>
            <a:r>
              <a:t>三峡工程决策跨越近百年，说明了重大基础设施决策需要超越任期思维，用历史视野审视短期与长期的关系。</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56032"/>
            <a:ext cx="11274552" cy="411480"/>
          </a:xfrm>
          <a:prstGeom prst="rect">
            <a:avLst/>
          </a:prstGeom>
          <a:noFill/>
        </p:spPr>
        <p:txBody>
          <a:bodyPr wrap="square">
            <a:spAutoFit/>
          </a:bodyPr>
          <a:lstStyle/>
          <a:p>
            <a:pPr algn="l">
              <a:defRPr sz="2000" b="1">
                <a:solidFill>
                  <a:srgbClr val="FFFFFF"/>
                </a:solidFill>
              </a:defRPr>
            </a:pPr>
            <a:r>
              <a:t>07  对群体决策理论的本土贡献</a:t>
            </a: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73952"/>
            <a:ext cx="9144000" cy="320040"/>
          </a:xfrm>
          <a:prstGeom prst="rect">
            <a:avLst/>
          </a:prstGeom>
          <a:noFill/>
        </p:spPr>
        <p:txBody>
          <a:bodyPr wrap="square">
            <a:spAutoFit/>
          </a:bodyPr>
          <a:lstStyle/>
          <a:p>
            <a:pPr algn="l">
              <a:defRPr sz="1000" b="0">
                <a:solidFill>
                  <a:srgbClr val="CCCCCC"/>
                </a:solidFill>
              </a:defRPr>
            </a:pPr>
            <a:r>
              <a:t>群体决策案例分析 · 三峡工程</a:t>
            </a:r>
          </a:p>
        </p:txBody>
      </p:sp>
      <p:sp>
        <p:nvSpPr>
          <p:cNvPr id="6" name="TextBox 5"/>
          <p:cNvSpPr txBox="1"/>
          <p:nvPr/>
        </p:nvSpPr>
        <p:spPr>
          <a:xfrm>
            <a:off x="11430000" y="6473952"/>
            <a:ext cx="548640" cy="320040"/>
          </a:xfrm>
          <a:prstGeom prst="rect">
            <a:avLst/>
          </a:prstGeom>
          <a:noFill/>
        </p:spPr>
        <p:txBody>
          <a:bodyPr wrap="square">
            <a:spAutoFit/>
          </a:bodyPr>
          <a:lstStyle/>
          <a:p>
            <a:pPr algn="r">
              <a:defRPr sz="1000" b="0">
                <a:solidFill>
                  <a:srgbClr val="BBBBBB"/>
                </a:solidFill>
              </a:defRPr>
            </a:pPr>
            <a:r>
              <a:t>19 / 20</a:t>
            </a:r>
          </a:p>
        </p:txBody>
      </p:sp>
      <p:sp>
        <p:nvSpPr>
          <p:cNvPr id="7" name="Rectangle 6"/>
          <p:cNvSpPr/>
          <p:nvPr/>
        </p:nvSpPr>
        <p:spPr>
          <a:xfrm>
            <a:off x="365760" y="914400"/>
            <a:ext cx="11457432" cy="5303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51560"/>
            <a:ext cx="10972800" cy="365760"/>
          </a:xfrm>
          <a:prstGeom prst="rect">
            <a:avLst/>
          </a:prstGeom>
          <a:noFill/>
        </p:spPr>
        <p:txBody>
          <a:bodyPr wrap="square">
            <a:spAutoFit/>
          </a:bodyPr>
          <a:lstStyle/>
          <a:p>
            <a:pPr algn="l">
              <a:defRPr sz="1500" b="1">
                <a:solidFill>
                  <a:srgbClr val="1E3A5F"/>
                </a:solidFill>
              </a:defRPr>
            </a:pPr>
            <a:r>
              <a:t>三峡工程案例对理论发展的四大贡献</a:t>
            </a:r>
          </a:p>
        </p:txBody>
      </p:sp>
      <p:sp>
        <p:nvSpPr>
          <p:cNvPr id="9" name="Rectangle 8"/>
          <p:cNvSpPr/>
          <p:nvPr/>
        </p:nvSpPr>
        <p:spPr>
          <a:xfrm>
            <a:off x="548640" y="1417320"/>
            <a:ext cx="10972800" cy="18288"/>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572768"/>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600200"/>
            <a:ext cx="292608" cy="256032"/>
          </a:xfrm>
          <a:prstGeom prst="rect">
            <a:avLst/>
          </a:prstGeom>
          <a:noFill/>
        </p:spPr>
        <p:txBody>
          <a:bodyPr wrap="square">
            <a:spAutoFit/>
          </a:bodyPr>
          <a:lstStyle/>
          <a:p>
            <a:pPr algn="ctr">
              <a:defRPr sz="1200" b="1">
                <a:solidFill>
                  <a:srgbClr val="FFFFFF"/>
                </a:solidFill>
              </a:defRPr>
            </a:pPr>
            <a:r>
              <a:t>1</a:t>
            </a:r>
          </a:p>
        </p:txBody>
      </p:sp>
      <p:sp>
        <p:nvSpPr>
          <p:cNvPr id="12" name="TextBox 11"/>
          <p:cNvSpPr txBox="1"/>
          <p:nvPr/>
        </p:nvSpPr>
        <p:spPr>
          <a:xfrm>
            <a:off x="987552" y="1572768"/>
            <a:ext cx="2926080" cy="320040"/>
          </a:xfrm>
          <a:prstGeom prst="rect">
            <a:avLst/>
          </a:prstGeom>
          <a:noFill/>
        </p:spPr>
        <p:txBody>
          <a:bodyPr wrap="square">
            <a:spAutoFit/>
          </a:bodyPr>
          <a:lstStyle/>
          <a:p>
            <a:pPr algn="l">
              <a:defRPr sz="1200" b="1">
                <a:solidFill>
                  <a:srgbClr val="1E3A5F"/>
                </a:solidFill>
              </a:defRPr>
            </a:pPr>
            <a:r>
              <a:t>差异整合机制</a:t>
            </a:r>
          </a:p>
        </p:txBody>
      </p:sp>
      <p:sp>
        <p:nvSpPr>
          <p:cNvPr id="13" name="TextBox 12"/>
          <p:cNvSpPr txBox="1"/>
          <p:nvPr/>
        </p:nvSpPr>
        <p:spPr>
          <a:xfrm>
            <a:off x="987552" y="1920240"/>
            <a:ext cx="10332720" cy="658368"/>
          </a:xfrm>
          <a:prstGeom prst="rect">
            <a:avLst/>
          </a:prstGeom>
          <a:noFill/>
        </p:spPr>
        <p:txBody>
          <a:bodyPr wrap="square">
            <a:spAutoFit/>
          </a:bodyPr>
          <a:lstStyle/>
          <a:p>
            <a:pPr algn="l">
              <a:defRPr sz="1100" b="0">
                <a:solidFill>
                  <a:srgbClr val="1A1A1A"/>
                </a:solidFill>
              </a:defRPr>
            </a:pPr>
            <a:r>
              <a:t>证明了"包容异议"而非"消除差异"是群体决策有效运行的关键——孙越崎反对报告被如实上报、80多岁老专家的246岁发言被完整记录，为"差异整合"理论提供了中国经验。</a:t>
            </a:r>
          </a:p>
        </p:txBody>
      </p:sp>
      <p:sp>
        <p:nvSpPr>
          <p:cNvPr id="14" name="Rectangle 13"/>
          <p:cNvSpPr/>
          <p:nvPr/>
        </p:nvSpPr>
        <p:spPr>
          <a:xfrm>
            <a:off x="548640" y="2651760"/>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2679191"/>
            <a:ext cx="292608" cy="256032"/>
          </a:xfrm>
          <a:prstGeom prst="rect">
            <a:avLst/>
          </a:prstGeom>
          <a:noFill/>
        </p:spPr>
        <p:txBody>
          <a:bodyPr wrap="square">
            <a:spAutoFit/>
          </a:bodyPr>
          <a:lstStyle/>
          <a:p>
            <a:pPr algn="ctr">
              <a:defRPr sz="1200" b="1">
                <a:solidFill>
                  <a:srgbClr val="FFFFFF"/>
                </a:solidFill>
              </a:defRPr>
            </a:pPr>
            <a:r>
              <a:t>2</a:t>
            </a:r>
          </a:p>
        </p:txBody>
      </p:sp>
      <p:sp>
        <p:nvSpPr>
          <p:cNvPr id="16" name="TextBox 15"/>
          <p:cNvSpPr txBox="1"/>
          <p:nvPr/>
        </p:nvSpPr>
        <p:spPr>
          <a:xfrm>
            <a:off x="987552" y="2651760"/>
            <a:ext cx="2926080" cy="320040"/>
          </a:xfrm>
          <a:prstGeom prst="rect">
            <a:avLst/>
          </a:prstGeom>
          <a:noFill/>
        </p:spPr>
        <p:txBody>
          <a:bodyPr wrap="square">
            <a:spAutoFit/>
          </a:bodyPr>
          <a:lstStyle/>
          <a:p>
            <a:pPr algn="l">
              <a:defRPr sz="1200" b="1">
                <a:solidFill>
                  <a:srgbClr val="1E3A5F"/>
                </a:solidFill>
              </a:defRPr>
            </a:pPr>
            <a:r>
              <a:t>证据-程序双轨模型</a:t>
            </a:r>
          </a:p>
        </p:txBody>
      </p:sp>
      <p:sp>
        <p:nvSpPr>
          <p:cNvPr id="17" name="TextBox 16"/>
          <p:cNvSpPr txBox="1"/>
          <p:nvPr/>
        </p:nvSpPr>
        <p:spPr>
          <a:xfrm>
            <a:off x="987552" y="2999232"/>
            <a:ext cx="10332720" cy="658368"/>
          </a:xfrm>
          <a:prstGeom prst="rect">
            <a:avLst/>
          </a:prstGeom>
          <a:noFill/>
        </p:spPr>
        <p:txBody>
          <a:bodyPr wrap="square">
            <a:spAutoFit/>
          </a:bodyPr>
          <a:lstStyle/>
          <a:p>
            <a:pPr algn="l">
              <a:defRPr sz="1100" b="0">
                <a:solidFill>
                  <a:srgbClr val="1A1A1A"/>
                </a:solidFill>
              </a:defRPr>
            </a:pPr>
            <a:r>
              <a:t>揭示了重大决策需同时满足"科学证据充分"（14份论证报告）和"程序民主合法"（全国人大审议）两个条件，缺一不可。</a:t>
            </a:r>
          </a:p>
        </p:txBody>
      </p:sp>
      <p:sp>
        <p:nvSpPr>
          <p:cNvPr id="18" name="Rectangle 17"/>
          <p:cNvSpPr/>
          <p:nvPr/>
        </p:nvSpPr>
        <p:spPr>
          <a:xfrm>
            <a:off x="548640" y="3730752"/>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758184"/>
            <a:ext cx="292608" cy="256032"/>
          </a:xfrm>
          <a:prstGeom prst="rect">
            <a:avLst/>
          </a:prstGeom>
          <a:noFill/>
        </p:spPr>
        <p:txBody>
          <a:bodyPr wrap="square">
            <a:spAutoFit/>
          </a:bodyPr>
          <a:lstStyle/>
          <a:p>
            <a:pPr algn="ctr">
              <a:defRPr sz="1200" b="1">
                <a:solidFill>
                  <a:srgbClr val="FFFFFF"/>
                </a:solidFill>
              </a:defRPr>
            </a:pPr>
            <a:r>
              <a:t>3</a:t>
            </a:r>
          </a:p>
        </p:txBody>
      </p:sp>
      <p:sp>
        <p:nvSpPr>
          <p:cNvPr id="20" name="TextBox 19"/>
          <p:cNvSpPr txBox="1"/>
          <p:nvPr/>
        </p:nvSpPr>
        <p:spPr>
          <a:xfrm>
            <a:off x="987552" y="3730752"/>
            <a:ext cx="2926080" cy="320040"/>
          </a:xfrm>
          <a:prstGeom prst="rect">
            <a:avLst/>
          </a:prstGeom>
          <a:noFill/>
        </p:spPr>
        <p:txBody>
          <a:bodyPr wrap="square">
            <a:spAutoFit/>
          </a:bodyPr>
          <a:lstStyle/>
          <a:p>
            <a:pPr algn="l">
              <a:defRPr sz="1200" b="1">
                <a:solidFill>
                  <a:srgbClr val="1E3A5F"/>
                </a:solidFill>
              </a:defRPr>
            </a:pPr>
            <a:r>
              <a:t>长周期决策的组织模式</a:t>
            </a:r>
          </a:p>
        </p:txBody>
      </p:sp>
      <p:sp>
        <p:nvSpPr>
          <p:cNvPr id="21" name="TextBox 20"/>
          <p:cNvSpPr txBox="1"/>
          <p:nvPr/>
        </p:nvSpPr>
        <p:spPr>
          <a:xfrm>
            <a:off x="987552" y="4078224"/>
            <a:ext cx="10332720" cy="658368"/>
          </a:xfrm>
          <a:prstGeom prst="rect">
            <a:avLst/>
          </a:prstGeom>
          <a:noFill/>
        </p:spPr>
        <p:txBody>
          <a:bodyPr wrap="square">
            <a:spAutoFit/>
          </a:bodyPr>
          <a:lstStyle/>
          <a:p>
            <a:pPr algn="l">
              <a:defRPr sz="1100" b="0">
                <a:solidFill>
                  <a:srgbClr val="1A1A1A"/>
                </a:solidFill>
              </a:defRPr>
            </a:pPr>
            <a:r>
              <a:t>提供了跨越多届领导班子的重大工程决策如何保持连续性的制度经验——关键在于档案记录的完整传承、论证结论的书面固化、以及"重新论证"触发机制。</a:t>
            </a:r>
          </a:p>
        </p:txBody>
      </p:sp>
      <p:sp>
        <p:nvSpPr>
          <p:cNvPr id="22" name="Rectangle 21"/>
          <p:cNvSpPr/>
          <p:nvPr/>
        </p:nvSpPr>
        <p:spPr>
          <a:xfrm>
            <a:off x="548640" y="4809744"/>
            <a:ext cx="292608" cy="292608"/>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4837176"/>
            <a:ext cx="292608" cy="256032"/>
          </a:xfrm>
          <a:prstGeom prst="rect">
            <a:avLst/>
          </a:prstGeom>
          <a:noFill/>
        </p:spPr>
        <p:txBody>
          <a:bodyPr wrap="square">
            <a:spAutoFit/>
          </a:bodyPr>
          <a:lstStyle/>
          <a:p>
            <a:pPr algn="ctr">
              <a:defRPr sz="1200" b="1">
                <a:solidFill>
                  <a:srgbClr val="FFFFFF"/>
                </a:solidFill>
              </a:defRPr>
            </a:pPr>
            <a:r>
              <a:t>4</a:t>
            </a:r>
          </a:p>
        </p:txBody>
      </p:sp>
      <p:sp>
        <p:nvSpPr>
          <p:cNvPr id="24" name="TextBox 23"/>
          <p:cNvSpPr txBox="1"/>
          <p:nvPr/>
        </p:nvSpPr>
        <p:spPr>
          <a:xfrm>
            <a:off x="987552" y="4809744"/>
            <a:ext cx="2926080" cy="320040"/>
          </a:xfrm>
          <a:prstGeom prst="rect">
            <a:avLst/>
          </a:prstGeom>
          <a:noFill/>
        </p:spPr>
        <p:txBody>
          <a:bodyPr wrap="square">
            <a:spAutoFit/>
          </a:bodyPr>
          <a:lstStyle/>
          <a:p>
            <a:pPr algn="l">
              <a:defRPr sz="1200" b="1">
                <a:solidFill>
                  <a:srgbClr val="1E3A5F"/>
                </a:solidFill>
              </a:defRPr>
            </a:pPr>
            <a:r>
              <a:t>层级-广泛性悖论的解决</a:t>
            </a:r>
          </a:p>
        </p:txBody>
      </p:sp>
      <p:sp>
        <p:nvSpPr>
          <p:cNvPr id="25" name="TextBox 24"/>
          <p:cNvSpPr txBox="1"/>
          <p:nvPr/>
        </p:nvSpPr>
        <p:spPr>
          <a:xfrm>
            <a:off x="987552" y="5157216"/>
            <a:ext cx="10332720" cy="658368"/>
          </a:xfrm>
          <a:prstGeom prst="rect">
            <a:avLst/>
          </a:prstGeom>
          <a:noFill/>
        </p:spPr>
        <p:txBody>
          <a:bodyPr wrap="square">
            <a:spAutoFit/>
          </a:bodyPr>
          <a:lstStyle/>
          <a:p>
            <a:pPr algn="l">
              <a:defRPr sz="1100" b="0">
                <a:solidFill>
                  <a:srgbClr val="1A1A1A"/>
                </a:solidFill>
              </a:defRPr>
            </a:pPr>
            <a:r>
              <a:t>证明了在大型社会中，通过"代表广泛性（全国人大）+ 层级集中（中央统筹）"的组合，可以实现既民主又有效的重大决策——对西方选举民主范式的重要补充。</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77724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777240"/>
            <a:ext cx="12188952" cy="5623560"/>
          </a:xfrm>
          <a:prstGeom prst="rect">
            <a:avLst/>
          </a:prstGeom>
          <a:solidFill>
            <a:srgbClr val="F9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400800"/>
            <a:ext cx="12188952" cy="45720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56032"/>
            <a:ext cx="11274552" cy="411480"/>
          </a:xfrm>
          <a:prstGeom prst="rect">
            <a:avLst/>
          </a:prstGeom>
          <a:noFill/>
        </p:spPr>
        <p:txBody>
          <a:bodyPr wrap="square">
            <a:spAutoFit/>
          </a:bodyPr>
          <a:lstStyle/>
          <a:p>
            <a:pPr algn="l">
              <a:defRPr sz="2200" b="1">
                <a:solidFill>
                  <a:srgbClr val="FFFFFF"/>
                </a:solidFill>
              </a:defRPr>
            </a:pPr>
            <a:r>
              <a:t>参考资料与数据来源</a:t>
            </a:r>
          </a:p>
        </p:txBody>
      </p:sp>
      <p:sp>
        <p:nvSpPr>
          <p:cNvPr id="6" name="TextBox 5"/>
          <p:cNvSpPr txBox="1"/>
          <p:nvPr/>
        </p:nvSpPr>
        <p:spPr>
          <a:xfrm>
            <a:off x="457200" y="566928"/>
            <a:ext cx="11274552" cy="274320"/>
          </a:xfrm>
          <a:prstGeom prst="rect">
            <a:avLst/>
          </a:prstGeom>
          <a:noFill/>
        </p:spPr>
        <p:txBody>
          <a:bodyPr wrap="square">
            <a:spAutoFit/>
          </a:bodyPr>
          <a:lstStyle/>
          <a:p>
            <a:pPr algn="l">
              <a:defRPr sz="1000" b="0">
                <a:solidFill>
                  <a:srgbClr val="99AACC"/>
                </a:solidFill>
              </a:defRPr>
            </a:pPr>
            <a:r>
              <a:t>REFERENCES</a:t>
            </a:r>
          </a:p>
        </p:txBody>
      </p:sp>
      <p:sp>
        <p:nvSpPr>
          <p:cNvPr id="7" name="Rectangle 6"/>
          <p:cNvSpPr/>
          <p:nvPr/>
        </p:nvSpPr>
        <p:spPr>
          <a:xfrm>
            <a:off x="457200" y="1143000"/>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16152"/>
            <a:ext cx="10972800" cy="548640"/>
          </a:xfrm>
          <a:prstGeom prst="rect">
            <a:avLst/>
          </a:prstGeom>
          <a:noFill/>
        </p:spPr>
        <p:txBody>
          <a:bodyPr wrap="square">
            <a:spAutoFit/>
          </a:bodyPr>
          <a:lstStyle/>
          <a:p>
            <a:pPr algn="l">
              <a:defRPr sz="1200" b="0">
                <a:solidFill>
                  <a:srgbClr val="1A1A1A"/>
                </a:solidFill>
              </a:defRPr>
            </a:pPr>
            <a:r>
              <a:t>1. 环球时报，《工程院院士：建三峡大坝是决策民主化典范》</a:t>
            </a:r>
          </a:p>
        </p:txBody>
      </p:sp>
      <p:sp>
        <p:nvSpPr>
          <p:cNvPr id="9" name="Rectangle 8"/>
          <p:cNvSpPr/>
          <p:nvPr/>
        </p:nvSpPr>
        <p:spPr>
          <a:xfrm>
            <a:off x="457200" y="1856232"/>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29384"/>
            <a:ext cx="10972800" cy="548640"/>
          </a:xfrm>
          <a:prstGeom prst="rect">
            <a:avLst/>
          </a:prstGeom>
          <a:noFill/>
        </p:spPr>
        <p:txBody>
          <a:bodyPr wrap="square">
            <a:spAutoFit/>
          </a:bodyPr>
          <a:lstStyle/>
          <a:p>
            <a:pPr algn="l">
              <a:defRPr sz="1200" b="0">
                <a:solidFill>
                  <a:srgbClr val="1A1A1A"/>
                </a:solidFill>
              </a:defRPr>
            </a:pPr>
            <a:r>
              <a:t>2. 国家发展和改革委员会，《三峡工程——承载着几代人梦想的世纪工程》，高俊才</a:t>
            </a:r>
          </a:p>
        </p:txBody>
      </p:sp>
      <p:sp>
        <p:nvSpPr>
          <p:cNvPr id="11" name="Rectangle 10"/>
          <p:cNvSpPr/>
          <p:nvPr/>
        </p:nvSpPr>
        <p:spPr>
          <a:xfrm>
            <a:off x="457200" y="2569464"/>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42616"/>
            <a:ext cx="10972800" cy="548640"/>
          </a:xfrm>
          <a:prstGeom prst="rect">
            <a:avLst/>
          </a:prstGeom>
          <a:noFill/>
        </p:spPr>
        <p:txBody>
          <a:bodyPr wrap="square">
            <a:spAutoFit/>
          </a:bodyPr>
          <a:lstStyle/>
          <a:p>
            <a:pPr algn="l">
              <a:defRPr sz="1200" b="0">
                <a:solidFill>
                  <a:srgbClr val="1A1A1A"/>
                </a:solidFill>
              </a:defRPr>
            </a:pPr>
            <a:r>
              <a:t>3. 中国经济网，《转变经济增长方式的重要探索》</a:t>
            </a:r>
          </a:p>
        </p:txBody>
      </p:sp>
      <p:sp>
        <p:nvSpPr>
          <p:cNvPr id="13" name="Rectangle 12"/>
          <p:cNvSpPr/>
          <p:nvPr/>
        </p:nvSpPr>
        <p:spPr>
          <a:xfrm>
            <a:off x="457200" y="3282696"/>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355848"/>
            <a:ext cx="10972800" cy="548640"/>
          </a:xfrm>
          <a:prstGeom prst="rect">
            <a:avLst/>
          </a:prstGeom>
          <a:noFill/>
        </p:spPr>
        <p:txBody>
          <a:bodyPr wrap="square">
            <a:spAutoFit/>
          </a:bodyPr>
          <a:lstStyle/>
          <a:p>
            <a:pPr algn="l">
              <a:defRPr sz="1200" b="0">
                <a:solidFill>
                  <a:srgbClr val="1A1A1A"/>
                </a:solidFill>
              </a:defRPr>
            </a:pPr>
            <a:r>
              <a:t>4. 中国水利网，《高峡出平湖当惊世界殊——写在三峡水利枢纽工程完成整体竣工验收之际》</a:t>
            </a:r>
          </a:p>
        </p:txBody>
      </p:sp>
      <p:sp>
        <p:nvSpPr>
          <p:cNvPr id="15" name="Rectangle 14"/>
          <p:cNvSpPr/>
          <p:nvPr/>
        </p:nvSpPr>
        <p:spPr>
          <a:xfrm>
            <a:off x="457200" y="3995928"/>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069080"/>
            <a:ext cx="10972800" cy="548640"/>
          </a:xfrm>
          <a:prstGeom prst="rect">
            <a:avLst/>
          </a:prstGeom>
          <a:noFill/>
        </p:spPr>
        <p:txBody>
          <a:bodyPr wrap="square">
            <a:spAutoFit/>
          </a:bodyPr>
          <a:lstStyle/>
          <a:p>
            <a:pPr algn="l">
              <a:defRPr sz="1200" b="0">
                <a:solidFill>
                  <a:srgbClr val="1A1A1A"/>
                </a:solidFill>
              </a:defRPr>
            </a:pPr>
            <a:r>
              <a:t>5. 《三峡工程论证报告》（1989年），三峡工程论证领导小组</a:t>
            </a:r>
          </a:p>
        </p:txBody>
      </p:sp>
      <p:sp>
        <p:nvSpPr>
          <p:cNvPr id="17" name="Rectangle 16"/>
          <p:cNvSpPr/>
          <p:nvPr/>
        </p:nvSpPr>
        <p:spPr>
          <a:xfrm>
            <a:off x="457200" y="4709160"/>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782312"/>
            <a:ext cx="10972800" cy="548640"/>
          </a:xfrm>
          <a:prstGeom prst="rect">
            <a:avLst/>
          </a:prstGeom>
          <a:noFill/>
        </p:spPr>
        <p:txBody>
          <a:bodyPr wrap="square">
            <a:spAutoFit/>
          </a:bodyPr>
          <a:lstStyle/>
          <a:p>
            <a:pPr algn="l">
              <a:defRPr sz="1200" b="0">
                <a:solidFill>
                  <a:srgbClr val="1A1A1A"/>
                </a:solidFill>
              </a:defRPr>
            </a:pPr>
            <a:r>
              <a:t>6. 《关于兴建长江三峡工程的决议》（1992年），第七届全国人民代表大会第五次会议</a:t>
            </a:r>
          </a:p>
        </p:txBody>
      </p:sp>
      <p:sp>
        <p:nvSpPr>
          <p:cNvPr id="19" name="Rectangle 18"/>
          <p:cNvSpPr/>
          <p:nvPr/>
        </p:nvSpPr>
        <p:spPr>
          <a:xfrm>
            <a:off x="457200" y="5422392"/>
            <a:ext cx="36576" cy="502920"/>
          </a:xfrm>
          <a:prstGeom prst="rect">
            <a:avLst/>
          </a:prstGeom>
          <a:solidFill>
            <a:srgbClr val="D4A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5495544"/>
            <a:ext cx="10972800" cy="548640"/>
          </a:xfrm>
          <a:prstGeom prst="rect">
            <a:avLst/>
          </a:prstGeom>
          <a:noFill/>
        </p:spPr>
        <p:txBody>
          <a:bodyPr wrap="square">
            <a:spAutoFit/>
          </a:bodyPr>
          <a:lstStyle/>
          <a:p>
            <a:pPr algn="l">
              <a:defRPr sz="1200" b="0">
                <a:solidFill>
                  <a:srgbClr val="1A1A1A"/>
                </a:solidFill>
              </a:defRPr>
            </a:pPr>
            <a:r>
              <a:t>7. 《长江三峡水利枢纽可行性研究报告（审议稿）》（1989年）</a:t>
            </a:r>
          </a:p>
        </p:txBody>
      </p:sp>
      <p:sp>
        <p:nvSpPr>
          <p:cNvPr id="21" name="Rectangle 20"/>
          <p:cNvSpPr/>
          <p:nvPr/>
        </p:nvSpPr>
        <p:spPr>
          <a:xfrm>
            <a:off x="0" y="5989320"/>
            <a:ext cx="12188952" cy="411480"/>
          </a:xfrm>
          <a:prstGeom prst="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6062472"/>
            <a:ext cx="11274552" cy="274320"/>
          </a:xfrm>
          <a:prstGeom prst="rect">
            <a:avLst/>
          </a:prstGeom>
          <a:noFill/>
        </p:spPr>
        <p:txBody>
          <a:bodyPr wrap="square">
            <a:spAutoFit/>
          </a:bodyPr>
          <a:lstStyle/>
          <a:p>
            <a:pPr algn="ctr">
              <a:defRPr sz="1400" b="1">
                <a:solidFill>
                  <a:srgbClr val="FFFFFF"/>
                </a:solidFill>
              </a:defRPr>
            </a:pPr>
            <a:r>
              <a:t>谢谢观看</a:t>
            </a:r>
          </a:p>
        </p:txBody>
      </p:sp>
      <p:sp>
        <p:nvSpPr>
          <p:cNvPr id="23" name="TextBox 22"/>
          <p:cNvSpPr txBox="1"/>
          <p:nvPr/>
        </p:nvSpPr>
        <p:spPr>
          <a:xfrm>
            <a:off x="11430000" y="6473952"/>
            <a:ext cx="548640" cy="320040"/>
          </a:xfrm>
          <a:prstGeom prst="rect">
            <a:avLst/>
          </a:prstGeom>
          <a:noFill/>
        </p:spPr>
        <p:txBody>
          <a:bodyPr wrap="square">
            <a:spAutoFit/>
          </a:bodyPr>
          <a:lstStyle/>
          <a:p>
            <a:pPr algn="r">
              <a:defRPr sz="1000" b="0">
                <a:solidFill>
                  <a:srgbClr val="AAAAAA"/>
                </a:solidFill>
              </a:defRPr>
            </a:pPr>
            <a: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